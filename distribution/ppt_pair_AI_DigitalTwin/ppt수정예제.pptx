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6" r:id="rId11"/>
    <p:sldId id="26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D0EB1-31D7-46F8-8FFB-E3937B0BF87E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3F56E-D7C2-4537-AC9A-03EC52678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732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176" y="4389120"/>
            <a:ext cx="11724310" cy="896084"/>
          </a:xfrm>
        </p:spPr>
        <p:txBody>
          <a:bodyPr anchor="ctr">
            <a:noAutofit/>
          </a:bodyPr>
          <a:lstStyle>
            <a:lvl1pPr algn="ctr"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6" y="5285204"/>
            <a:ext cx="11724310" cy="605748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3" descr="거미줄 같이 연결된 점들">
            <a:extLst>
              <a:ext uri="{FF2B5EF4-FFF2-40B4-BE49-F238E27FC236}">
                <a16:creationId xmlns:a16="http://schemas.microsoft.com/office/drawing/2014/main" id="{251C4334-46CE-BBA3-D29D-FD04585A4D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24248" b="1523"/>
          <a:stretch/>
        </p:blipFill>
        <p:spPr>
          <a:xfrm>
            <a:off x="20" y="-32762"/>
            <a:ext cx="12191979" cy="404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74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40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6" y="2715065"/>
            <a:ext cx="11724309" cy="1856936"/>
          </a:xfrm>
        </p:spPr>
        <p:txBody>
          <a:bodyPr anchor="t">
            <a:normAutofit/>
          </a:bodyPr>
          <a:lstStyle>
            <a:lvl1pPr algn="ctr">
              <a:defRPr sz="40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176" y="4726745"/>
            <a:ext cx="11724309" cy="576776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40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86581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9177" y="934418"/>
            <a:ext cx="5724514" cy="53074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4416"/>
            <a:ext cx="5931310" cy="53074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3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1999" cy="838856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176" y="838856"/>
            <a:ext cx="5798501" cy="4105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9176" y="1249378"/>
            <a:ext cx="5798501" cy="49402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38856"/>
            <a:ext cx="5798501" cy="4105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1" y="1249378"/>
            <a:ext cx="5798502" cy="49402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72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55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65"/>
            <a:ext cx="12192000" cy="6609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176" y="932507"/>
            <a:ext cx="11724310" cy="5353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5178" y="6389688"/>
            <a:ext cx="53253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9176" y="6389688"/>
            <a:ext cx="53253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814010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519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나눔스퀘어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msungsds.com/kr/insights/2023-ai-survey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45CFDA-9422-DE78-C184-FF6F658959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와 빅데이터 시대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 고품질 데이터와 디지털 트윈을 통한 시뮬레이션 혁신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C8804D-3113-CD5D-5325-BC1EC84EE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6" y="5285204"/>
            <a:ext cx="11724310" cy="1058446"/>
          </a:xfrm>
        </p:spPr>
        <p:txBody>
          <a:bodyPr>
            <a:normAutofit/>
          </a:bodyPr>
          <a:lstStyle/>
          <a:p>
            <a:r>
              <a:rPr lang="en-US" altLang="ko-KR" dirty="0"/>
              <a:t>CAE</a:t>
            </a:r>
            <a:r>
              <a:rPr lang="ko-KR" altLang="en-US" dirty="0"/>
              <a:t> 그룹 </a:t>
            </a:r>
            <a:endParaRPr lang="en-US" altLang="ko-KR" dirty="0"/>
          </a:p>
          <a:p>
            <a:r>
              <a:rPr lang="ko-KR" altLang="en-US" dirty="0"/>
              <a:t>박국진</a:t>
            </a:r>
          </a:p>
        </p:txBody>
      </p:sp>
    </p:spTree>
    <p:extLst>
      <p:ext uri="{BB962C8B-B14F-4D97-AF65-F5344CB8AC3E}">
        <p14:creationId xmlns:p14="http://schemas.microsoft.com/office/powerpoint/2010/main" val="2975897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81BD1-7780-307C-B446-846EB03F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1. 2023</a:t>
            </a:r>
            <a:r>
              <a:rPr lang="en-US" altLang="ko-KR" dirty="0">
                <a:latin typeface="+mj-ea"/>
                <a:ea typeface="+mj-ea"/>
              </a:rPr>
              <a:t>년 </a:t>
            </a:r>
            <a:r>
              <a:rPr lang="ko-KR" altLang="en-US" dirty="0">
                <a:latin typeface="+mj-ea"/>
                <a:ea typeface="+mj-ea"/>
              </a:rPr>
              <a:t>국내 </a:t>
            </a:r>
            <a:r>
              <a:rPr lang="en-US" altLang="ko-KR" dirty="0">
                <a:latin typeface="+mj-ea"/>
                <a:ea typeface="+mj-ea"/>
              </a:rPr>
              <a:t>AI </a:t>
            </a:r>
            <a:r>
              <a:rPr lang="ko-KR" altLang="en-US" dirty="0">
                <a:latin typeface="+mj-ea"/>
                <a:ea typeface="+mj-ea"/>
              </a:rPr>
              <a:t>도입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및 </a:t>
            </a:r>
            <a:r>
              <a:rPr lang="ko-KR" altLang="en-US">
                <a:latin typeface="+mj-ea"/>
                <a:ea typeface="+mj-ea"/>
              </a:rPr>
              <a:t>활용 조사 </a:t>
            </a:r>
            <a:r>
              <a:rPr lang="en-US" altLang="ko-KR">
                <a:latin typeface="+mj-ea"/>
                <a:ea typeface="+mj-ea"/>
              </a:rPr>
              <a:t>(1/2)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8D58A186-81C7-06D1-40F6-1ADDBFCB7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1.1 AI </a:t>
            </a:r>
            <a:r>
              <a:rPr lang="ko-KR" altLang="en-US"/>
              <a:t>도입 및 활용 현황</a:t>
            </a:r>
            <a:endParaRPr lang="en-US" altLang="ko-KR"/>
          </a:p>
          <a:p>
            <a:pPr lvl="1"/>
            <a:r>
              <a:rPr lang="ko-KR" altLang="en-US"/>
              <a:t>국내 기업 약 </a:t>
            </a:r>
            <a:r>
              <a:rPr lang="en-US" altLang="ko-KR"/>
              <a:t>41%</a:t>
            </a:r>
            <a:r>
              <a:rPr lang="ko-KR" altLang="en-US"/>
              <a:t>가 </a:t>
            </a:r>
            <a:r>
              <a:rPr lang="en-US" altLang="ko-KR"/>
              <a:t>AI </a:t>
            </a:r>
            <a:r>
              <a:rPr lang="ko-KR" altLang="en-US"/>
              <a:t>활용 또는 파일럿 진행</a:t>
            </a:r>
          </a:p>
          <a:p>
            <a:pPr lvl="1"/>
            <a:r>
              <a:rPr lang="ko-KR" altLang="en-US"/>
              <a:t>추가 도입 예정 기업 포함 시 과반 이상이 </a:t>
            </a:r>
            <a:r>
              <a:rPr lang="en-US" altLang="ko-KR"/>
              <a:t>AI </a:t>
            </a:r>
            <a:r>
              <a:rPr lang="ko-KR" altLang="en-US"/>
              <a:t>추진</a:t>
            </a:r>
          </a:p>
          <a:p>
            <a:pPr lvl="1"/>
            <a:r>
              <a:rPr lang="ko-KR" altLang="en-US"/>
              <a:t>생성형 </a:t>
            </a:r>
            <a:r>
              <a:rPr lang="en-US" altLang="ko-KR"/>
              <a:t>AI </a:t>
            </a:r>
            <a:r>
              <a:rPr lang="ko-KR" altLang="en-US"/>
              <a:t>확산으로 </a:t>
            </a:r>
            <a:r>
              <a:rPr lang="en-US" altLang="ko-KR"/>
              <a:t>AI </a:t>
            </a:r>
            <a:r>
              <a:rPr lang="ko-KR" altLang="en-US"/>
              <a:t>관심과 투자 증가</a:t>
            </a:r>
          </a:p>
          <a:p>
            <a:pPr lvl="1"/>
            <a:r>
              <a:rPr lang="en-US" altLang="ko-KR"/>
              <a:t>AI</a:t>
            </a:r>
            <a:r>
              <a:rPr lang="ko-KR" altLang="en-US"/>
              <a:t>가 기업 업무 혁신의 핵심 기술로 확대 중</a:t>
            </a:r>
          </a:p>
          <a:p>
            <a:pPr lvl="1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06D3112-414D-CB9A-7988-9F52F624D065}"/>
              </a:ext>
            </a:extLst>
          </p:cNvPr>
          <p:cNvGrpSpPr/>
          <p:nvPr/>
        </p:nvGrpSpPr>
        <p:grpSpPr>
          <a:xfrm>
            <a:off x="2152650" y="3000622"/>
            <a:ext cx="7347858" cy="3512218"/>
            <a:chOff x="2381250" y="1726913"/>
            <a:chExt cx="7347858" cy="351221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E23BAED-7D03-14BD-4283-C98B8C0B7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62893" y="2138719"/>
              <a:ext cx="7266215" cy="310041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9B2FE87-CB83-A406-B4E1-C132E9BDDC20}"/>
                </a:ext>
              </a:extLst>
            </p:cNvPr>
            <p:cNvSpPr txBox="1"/>
            <p:nvPr/>
          </p:nvSpPr>
          <p:spPr>
            <a:xfrm>
              <a:off x="2381250" y="1726913"/>
              <a:ext cx="71723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1350"/>
                </a:spcBef>
              </a:pPr>
              <a:r>
                <a:rPr lang="en-US" altLang="ko-KR" sz="1600" b="1" i="0" strike="noStrike">
                  <a:effectLst/>
                  <a:latin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Figure 1. 2023 </a:t>
              </a:r>
              <a:r>
                <a:rPr lang="ko-KR" altLang="en-US" sz="1600" b="1" i="0" strike="noStrike" dirty="0">
                  <a:effectLst/>
                  <a:latin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국내 </a:t>
              </a:r>
              <a:r>
                <a:rPr lang="en-US" altLang="ko-KR" sz="1600" b="1" i="0" strike="noStrike" dirty="0">
                  <a:effectLst/>
                  <a:latin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AI </a:t>
              </a:r>
              <a:r>
                <a:rPr lang="ko-KR" altLang="en-US" sz="1600" b="1" i="0" strike="noStrike" dirty="0">
                  <a:effectLst/>
                  <a:latin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도입 및 활용 현황 조사 </a:t>
              </a:r>
              <a:r>
                <a:rPr lang="en-US" altLang="ko-KR" sz="1600" b="1" i="0" strike="noStrike" dirty="0">
                  <a:effectLst/>
                  <a:latin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| </a:t>
              </a:r>
              <a:r>
                <a:rPr lang="ko-KR" altLang="en-US" sz="1600" b="1" i="0" strike="noStrike" dirty="0">
                  <a:effectLst/>
                  <a:latin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인사이트리포트 </a:t>
              </a:r>
              <a:r>
                <a:rPr lang="en-US" altLang="ko-KR" sz="1600" b="1" i="0" strike="noStrike" dirty="0">
                  <a:effectLst/>
                  <a:latin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| </a:t>
              </a:r>
              <a:r>
                <a:rPr lang="ko-KR" altLang="en-US" sz="1600" b="1" i="0" strike="noStrike" dirty="0">
                  <a:effectLst/>
                  <a:latin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삼성</a:t>
              </a:r>
              <a:r>
                <a:rPr lang="en-US" altLang="ko-KR" sz="1600" b="1" i="0" strike="noStrike" dirty="0">
                  <a:effectLst/>
                  <a:latin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248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07E59-F81B-F76C-8E11-3CE748FD6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24080-893E-AA38-66D8-EF057BCBE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1. 2023</a:t>
            </a:r>
            <a:r>
              <a:rPr lang="en-US" altLang="ko-KR" dirty="0">
                <a:latin typeface="+mj-ea"/>
                <a:ea typeface="+mj-ea"/>
              </a:rPr>
              <a:t>년 </a:t>
            </a:r>
            <a:r>
              <a:rPr lang="ko-KR" altLang="en-US" dirty="0">
                <a:latin typeface="+mj-ea"/>
                <a:ea typeface="+mj-ea"/>
              </a:rPr>
              <a:t>국내 </a:t>
            </a:r>
            <a:r>
              <a:rPr lang="en-US" altLang="ko-KR" dirty="0">
                <a:latin typeface="+mj-ea"/>
                <a:ea typeface="+mj-ea"/>
              </a:rPr>
              <a:t>AI </a:t>
            </a:r>
            <a:r>
              <a:rPr lang="ko-KR" altLang="en-US" dirty="0">
                <a:latin typeface="+mj-ea"/>
                <a:ea typeface="+mj-ea"/>
              </a:rPr>
              <a:t>도입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및 </a:t>
            </a:r>
            <a:r>
              <a:rPr lang="ko-KR" altLang="en-US">
                <a:latin typeface="+mj-ea"/>
                <a:ea typeface="+mj-ea"/>
              </a:rPr>
              <a:t>활용 조사 </a:t>
            </a:r>
            <a:r>
              <a:rPr lang="en-US" altLang="ko-KR">
                <a:latin typeface="+mj-ea"/>
                <a:ea typeface="+mj-ea"/>
              </a:rPr>
              <a:t>(2/2)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00DAD0-8382-D92A-6619-B01618980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i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1.2 AI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활용 시 가장 큰 어려움은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"</a:t>
            </a:r>
            <a:r>
              <a:rPr lang="ko-KR" altLang="en-US" b="1" i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데이터와 인력</a:t>
            </a:r>
            <a:r>
              <a:rPr lang="en-US" altLang="ko-KR" b="1" i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“</a:t>
            </a:r>
          </a:p>
          <a:p>
            <a:pPr lvl="1"/>
            <a:r>
              <a:rPr lang="ko-KR" altLang="en-US">
                <a:solidFill>
                  <a:srgbClr val="000000"/>
                </a:solidFill>
                <a:latin typeface="Noto Sans" panose="020B0502040504020204" pitchFamily="34" charset="0"/>
              </a:rPr>
              <a:t>데이터 품질</a:t>
            </a:r>
            <a:r>
              <a:rPr lang="en-US" altLang="ko-KR">
                <a:solidFill>
                  <a:srgbClr val="000000"/>
                </a:solidFill>
                <a:latin typeface="Noto Sans" panose="020B0502040504020204" pitchFamily="34" charset="0"/>
              </a:rPr>
              <a:t>·</a:t>
            </a:r>
            <a:r>
              <a:rPr lang="ko-KR" altLang="en-US">
                <a:solidFill>
                  <a:srgbClr val="000000"/>
                </a:solidFill>
                <a:latin typeface="Noto Sans" panose="020B0502040504020204" pitchFamily="34" charset="0"/>
              </a:rPr>
              <a:t>부족 문제와 </a:t>
            </a:r>
            <a:r>
              <a:rPr lang="en-US" altLang="ko-KR">
                <a:solidFill>
                  <a:srgbClr val="000000"/>
                </a:solidFill>
                <a:latin typeface="Noto Sans" panose="020B0502040504020204" pitchFamily="34" charset="0"/>
              </a:rPr>
              <a:t>AI </a:t>
            </a:r>
            <a:r>
              <a:rPr lang="ko-KR" altLang="en-US">
                <a:solidFill>
                  <a:srgbClr val="000000"/>
                </a:solidFill>
                <a:latin typeface="Noto Sans" panose="020B0502040504020204" pitchFamily="34" charset="0"/>
              </a:rPr>
              <a:t>전문 인력 부족이 가장 큰 장애 요인</a:t>
            </a:r>
          </a:p>
          <a:p>
            <a:pPr lvl="1"/>
            <a:r>
              <a:rPr lang="ko-KR" altLang="en-US">
                <a:solidFill>
                  <a:srgbClr val="000000"/>
                </a:solidFill>
                <a:latin typeface="Noto Sans" panose="020B0502040504020204" pitchFamily="34" charset="0"/>
              </a:rPr>
              <a:t>기술 선정</a:t>
            </a:r>
            <a:r>
              <a:rPr lang="en-US" altLang="ko-KR">
                <a:solidFill>
                  <a:srgbClr val="000000"/>
                </a:solidFill>
                <a:latin typeface="Noto Sans" panose="020B0502040504020204" pitchFamily="34" charset="0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Noto Sans" panose="020B0502040504020204" pitchFamily="34" charset="0"/>
              </a:rPr>
              <a:t>인프라</a:t>
            </a:r>
            <a:r>
              <a:rPr lang="en-US" altLang="ko-KR">
                <a:solidFill>
                  <a:srgbClr val="000000"/>
                </a:solidFill>
                <a:latin typeface="Noto Sans" panose="020B0502040504020204" pitchFamily="34" charset="0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Noto Sans" panose="020B0502040504020204" pitchFamily="34" charset="0"/>
              </a:rPr>
              <a:t>비용 부담 등도 주요 어려움으로 나타남</a:t>
            </a:r>
            <a:endParaRPr lang="en-US" altLang="ko-KR" i="0" dirty="0">
              <a:solidFill>
                <a:srgbClr val="000000"/>
              </a:solidFill>
              <a:effectLst/>
              <a:latin typeface="Noto Sans" panose="020B0502040504020204" pitchFamily="34" charset="0"/>
            </a:endParaRPr>
          </a:p>
          <a:p>
            <a:pPr marL="0" indent="0">
              <a:buNone/>
            </a:pP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12C30EF-1376-F678-A25C-A658BBB9D58F}"/>
              </a:ext>
            </a:extLst>
          </p:cNvPr>
          <p:cNvGrpSpPr/>
          <p:nvPr/>
        </p:nvGrpSpPr>
        <p:grpSpPr>
          <a:xfrm>
            <a:off x="2277458" y="2313170"/>
            <a:ext cx="6558096" cy="4395864"/>
            <a:chOff x="2277458" y="2313170"/>
            <a:chExt cx="6558096" cy="439586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EA7C7C7-A3DC-DB36-47C5-92149CD64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7458" y="2539510"/>
              <a:ext cx="6558096" cy="416952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0769B8-F760-9514-ADCF-F585254E454D}"/>
                </a:ext>
              </a:extLst>
            </p:cNvPr>
            <p:cNvSpPr txBox="1"/>
            <p:nvPr/>
          </p:nvSpPr>
          <p:spPr>
            <a:xfrm>
              <a:off x="2663354" y="2313170"/>
              <a:ext cx="57853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b="1"/>
                <a:t>Figure 2. </a:t>
              </a:r>
              <a:r>
                <a:rPr lang="ko-KR" altLang="en-US" sz="1600" b="1"/>
                <a:t>기업의 </a:t>
              </a:r>
              <a:r>
                <a:rPr lang="en-US" altLang="ko-KR" sz="1600" b="1"/>
                <a:t>AI </a:t>
              </a:r>
              <a:r>
                <a:rPr lang="ko-KR" altLang="en-US" sz="1600" b="1"/>
                <a:t>도입 장애 요인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504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0116A-146B-45A7-6D63-F5D194D3E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데이터 </a:t>
            </a:r>
            <a:r>
              <a:rPr lang="ko-KR" altLang="en-US" dirty="0"/>
              <a:t>마이닝의 중요성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EA198-862E-CB2C-BAD2-19DCD19BF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2.1 AI·</a:t>
            </a:r>
            <a:r>
              <a:rPr lang="ko-KR" altLang="en-US"/>
              <a:t>데이터 처리의 핵심 개념</a:t>
            </a:r>
            <a:endParaRPr lang="en-US" altLang="ko-KR"/>
          </a:p>
          <a:p>
            <a:pPr marL="274320" lvl="1" indent="0">
              <a:buNone/>
            </a:pPr>
            <a:r>
              <a:rPr lang="en-US" altLang="ko-KR"/>
              <a:t>2.1.1 SISO (Single Input, Single Output) </a:t>
            </a:r>
          </a:p>
          <a:p>
            <a:pPr marL="502920" lvl="2" indent="0">
              <a:buNone/>
            </a:pPr>
            <a:r>
              <a:rPr lang="ko-KR" altLang="en-US"/>
              <a:t>하나의 입력으로 하나의 결과를 생성하는 단순 구조</a:t>
            </a:r>
            <a:endParaRPr lang="en-US" altLang="ko-KR"/>
          </a:p>
          <a:p>
            <a:pPr marL="502920" lvl="2" indent="0">
              <a:buNone/>
            </a:pPr>
            <a:r>
              <a:rPr lang="ko-KR" altLang="en-US"/>
              <a:t>기본적인 </a:t>
            </a:r>
            <a:r>
              <a:rPr lang="en-US" altLang="ko-KR"/>
              <a:t>Control System, Simulation, Neural Network </a:t>
            </a:r>
            <a:r>
              <a:rPr lang="ko-KR" altLang="en-US"/>
              <a:t>모델에 활용</a:t>
            </a:r>
            <a:endParaRPr lang="en-US" altLang="ko-KR"/>
          </a:p>
          <a:p>
            <a:pPr marL="777240" lvl="3" indent="0">
              <a:buNone/>
            </a:pPr>
            <a:endParaRPr lang="ko-KR" altLang="en-US"/>
          </a:p>
          <a:p>
            <a:pPr marL="274320" lvl="1" indent="0">
              <a:buNone/>
            </a:pPr>
            <a:r>
              <a:rPr lang="en-US" altLang="ko-KR"/>
              <a:t>2.1.2 MIMO (Multiple Input, Multiple Output) </a:t>
            </a:r>
          </a:p>
          <a:p>
            <a:pPr marL="502920" lvl="2" indent="0">
              <a:buNone/>
            </a:pPr>
            <a:r>
              <a:rPr lang="ko-KR" altLang="en-US"/>
              <a:t>여러 입력을 종합하여 다양한 결과를 생성하는 복합 구조</a:t>
            </a:r>
            <a:endParaRPr lang="en-US" altLang="ko-KR"/>
          </a:p>
          <a:p>
            <a:pPr marL="502920" lvl="2" indent="0">
              <a:buNone/>
            </a:pPr>
            <a:r>
              <a:rPr lang="ko-KR" altLang="en-US"/>
              <a:t>실제 산업용 </a:t>
            </a:r>
            <a:r>
              <a:rPr lang="en-US" altLang="ko-KR"/>
              <a:t>Control System, CAE Simulation, Digital Twin, Neural Network</a:t>
            </a:r>
            <a:r>
              <a:rPr lang="ko-KR" altLang="en-US"/>
              <a:t>의 대표적 구조</a:t>
            </a:r>
            <a:endParaRPr lang="en-US" altLang="ko-KR"/>
          </a:p>
          <a:p>
            <a:pPr marL="502920" lvl="2" indent="0">
              <a:buNone/>
            </a:pPr>
            <a:endParaRPr lang="en-US" altLang="ko-KR"/>
          </a:p>
          <a:p>
            <a:pPr marL="274320" lvl="1" indent="0">
              <a:buNone/>
            </a:pPr>
            <a:r>
              <a:rPr lang="en-US" altLang="ko-KR"/>
              <a:t>2.1.3 GIGO (Garbage Input, Garbage Output) </a:t>
            </a:r>
          </a:p>
          <a:p>
            <a:pPr marL="502920" lvl="2" indent="0">
              <a:buNone/>
            </a:pPr>
            <a:r>
              <a:rPr lang="ko-KR" altLang="en-US"/>
              <a:t>입력 데이터 품질이 낮으면 결과도 신뢰할 수 없다는 원칙</a:t>
            </a:r>
            <a:endParaRPr lang="en-US" altLang="ko-KR"/>
          </a:p>
          <a:p>
            <a:pPr marL="502920" lvl="2" indent="0">
              <a:buNone/>
            </a:pPr>
            <a:r>
              <a:rPr lang="en-US" altLang="ko-KR"/>
              <a:t>AI·Simulation·</a:t>
            </a:r>
            <a:r>
              <a:rPr lang="ko-KR" altLang="en-US"/>
              <a:t>제어 시스템 전반에서 데이터 품질의 중요성을 의미</a:t>
            </a:r>
            <a:endParaRPr lang="en-US" altLang="ko-KR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793D951-D474-E83E-86C2-7EB208130E33}"/>
              </a:ext>
            </a:extLst>
          </p:cNvPr>
          <p:cNvGrpSpPr/>
          <p:nvPr/>
        </p:nvGrpSpPr>
        <p:grpSpPr>
          <a:xfrm>
            <a:off x="7115174" y="1022385"/>
            <a:ext cx="4133851" cy="1250444"/>
            <a:chOff x="7115174" y="1022385"/>
            <a:chExt cx="4133851" cy="1250444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3B057579-54C7-8B04-A8A0-EC0F943B2548}"/>
                </a:ext>
              </a:extLst>
            </p:cNvPr>
            <p:cNvGrpSpPr/>
            <p:nvPr/>
          </p:nvGrpSpPr>
          <p:grpSpPr>
            <a:xfrm>
              <a:off x="7115175" y="1480035"/>
              <a:ext cx="4133850" cy="792794"/>
              <a:chOff x="5219700" y="1232056"/>
              <a:chExt cx="4133850" cy="792794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849547C5-AE20-9F68-D2C6-3F39FD9B7C26}"/>
                  </a:ext>
                </a:extLst>
              </p:cNvPr>
              <p:cNvSpPr/>
              <p:nvPr/>
            </p:nvSpPr>
            <p:spPr>
              <a:xfrm>
                <a:off x="6412057" y="1261275"/>
                <a:ext cx="1749136" cy="76357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System</a:t>
                </a:r>
                <a:endParaRPr lang="ko-KR" altLang="en-US" dirty="0"/>
              </a:p>
            </p:txBody>
          </p:sp>
          <p:cxnSp>
            <p:nvCxnSpPr>
              <p:cNvPr id="6" name="직선 화살표 연결선 5">
                <a:extLst>
                  <a:ext uri="{FF2B5EF4-FFF2-40B4-BE49-F238E27FC236}">
                    <a16:creationId xmlns:a16="http://schemas.microsoft.com/office/drawing/2014/main" id="{9A373E90-63BE-C7D5-99B2-E831FB737556}"/>
                  </a:ext>
                </a:extLst>
              </p:cNvPr>
              <p:cNvCxnSpPr/>
              <p:nvPr/>
            </p:nvCxnSpPr>
            <p:spPr>
              <a:xfrm>
                <a:off x="5219700" y="1643062"/>
                <a:ext cx="119235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직선 화살표 연결선 6">
                <a:extLst>
                  <a:ext uri="{FF2B5EF4-FFF2-40B4-BE49-F238E27FC236}">
                    <a16:creationId xmlns:a16="http://schemas.microsoft.com/office/drawing/2014/main" id="{9CE1B0D9-3F81-AFA8-EE81-EFA549613267}"/>
                  </a:ext>
                </a:extLst>
              </p:cNvPr>
              <p:cNvCxnSpPr/>
              <p:nvPr/>
            </p:nvCxnSpPr>
            <p:spPr>
              <a:xfrm>
                <a:off x="8161193" y="1643062"/>
                <a:ext cx="119235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BA82F5EE-CD6E-0616-36BE-2FE07B92AAAA}"/>
                      </a:ext>
                    </a:extLst>
                  </p:cNvPr>
                  <p:cNvSpPr txBox="1"/>
                  <p:nvPr/>
                </p:nvSpPr>
                <p:spPr>
                  <a:xfrm>
                    <a:off x="5486400" y="1232056"/>
                    <a:ext cx="4381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BA82F5EE-CD6E-0616-36BE-2FE07B92AA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400" y="1232056"/>
                    <a:ext cx="43815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125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D661D01A-8ADB-C0B0-16DF-937D1AD2B8E1}"/>
                      </a:ext>
                    </a:extLst>
                  </p:cNvPr>
                  <p:cNvSpPr txBox="1"/>
                  <p:nvPr/>
                </p:nvSpPr>
                <p:spPr>
                  <a:xfrm>
                    <a:off x="8538296" y="1232056"/>
                    <a:ext cx="4381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D661D01A-8ADB-C0B0-16DF-937D1AD2B8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8296" y="1232056"/>
                    <a:ext cx="43815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3889" b="-983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37E1DBC-0293-0C2C-7E22-B303E273C8C6}"/>
                </a:ext>
              </a:extLst>
            </p:cNvPr>
            <p:cNvSpPr txBox="1"/>
            <p:nvPr/>
          </p:nvSpPr>
          <p:spPr>
            <a:xfrm>
              <a:off x="7115174" y="1022385"/>
              <a:ext cx="413385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b="1"/>
                <a:t>Figure 3. SISO System</a:t>
              </a:r>
              <a:endParaRPr lang="ko-KR" altLang="en-US" sz="1600" b="1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7F0FC99-AAFD-7769-A093-E5CF1D810255}"/>
              </a:ext>
            </a:extLst>
          </p:cNvPr>
          <p:cNvGrpSpPr/>
          <p:nvPr/>
        </p:nvGrpSpPr>
        <p:grpSpPr>
          <a:xfrm>
            <a:off x="7115174" y="2625302"/>
            <a:ext cx="4133851" cy="1609376"/>
            <a:chOff x="7115174" y="2625302"/>
            <a:chExt cx="4133851" cy="1609376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0B1B8BE-747A-5196-2C68-1B2384619F79}"/>
                </a:ext>
              </a:extLst>
            </p:cNvPr>
            <p:cNvGrpSpPr/>
            <p:nvPr/>
          </p:nvGrpSpPr>
          <p:grpSpPr>
            <a:xfrm>
              <a:off x="7115175" y="2908624"/>
              <a:ext cx="4133850" cy="1326054"/>
              <a:chOff x="7115175" y="2908624"/>
              <a:chExt cx="4133850" cy="1326054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01A9ED36-F993-DA4B-9026-2DE58EE93C09}"/>
                  </a:ext>
                </a:extLst>
              </p:cNvPr>
              <p:cNvSpPr/>
              <p:nvPr/>
            </p:nvSpPr>
            <p:spPr>
              <a:xfrm>
                <a:off x="8307532" y="3154475"/>
                <a:ext cx="1749136" cy="76357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System</a:t>
                </a:r>
                <a:endParaRPr lang="ko-KR" altLang="en-US" dirty="0"/>
              </a:p>
            </p:txBody>
          </p:sp>
          <p:cxnSp>
            <p:nvCxnSpPr>
              <p:cNvPr id="11" name="직선 화살표 연결선 10">
                <a:extLst>
                  <a:ext uri="{FF2B5EF4-FFF2-40B4-BE49-F238E27FC236}">
                    <a16:creationId xmlns:a16="http://schemas.microsoft.com/office/drawing/2014/main" id="{84F85558-13F7-DEA8-5C18-49A7DBA3065F}"/>
                  </a:ext>
                </a:extLst>
              </p:cNvPr>
              <p:cNvCxnSpPr/>
              <p:nvPr/>
            </p:nvCxnSpPr>
            <p:spPr>
              <a:xfrm>
                <a:off x="7115175" y="3310522"/>
                <a:ext cx="119235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3FBD2FEF-CA14-0A68-00C1-26E50AAEA5CF}"/>
                      </a:ext>
                    </a:extLst>
                  </p:cNvPr>
                  <p:cNvSpPr txBox="1"/>
                  <p:nvPr/>
                </p:nvSpPr>
                <p:spPr>
                  <a:xfrm>
                    <a:off x="7381875" y="2908624"/>
                    <a:ext cx="4381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3FBD2FEF-CA14-0A68-00C1-26E50AAEA5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81875" y="2908624"/>
                    <a:ext cx="43815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34722" b="-163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직선 화살표 연결선 16">
                <a:extLst>
                  <a:ext uri="{FF2B5EF4-FFF2-40B4-BE49-F238E27FC236}">
                    <a16:creationId xmlns:a16="http://schemas.microsoft.com/office/drawing/2014/main" id="{F96FF8F5-FE27-023F-09E6-02462ABB8F69}"/>
                  </a:ext>
                </a:extLst>
              </p:cNvPr>
              <p:cNvCxnSpPr/>
              <p:nvPr/>
            </p:nvCxnSpPr>
            <p:spPr>
              <a:xfrm>
                <a:off x="7115175" y="3834397"/>
                <a:ext cx="119235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DC23E73F-D952-91D0-3866-49E75892A4DD}"/>
                      </a:ext>
                    </a:extLst>
                  </p:cNvPr>
                  <p:cNvSpPr txBox="1"/>
                  <p:nvPr/>
                </p:nvSpPr>
                <p:spPr>
                  <a:xfrm>
                    <a:off x="7496175" y="3387964"/>
                    <a:ext cx="3238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DC23E73F-D952-91D0-3866-49E75892A4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96175" y="3387964"/>
                    <a:ext cx="32385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0D8F98F1-2D43-6A28-7E3A-C20E50F5305A}"/>
                  </a:ext>
                </a:extLst>
              </p:cNvPr>
              <p:cNvCxnSpPr/>
              <p:nvPr/>
            </p:nvCxnSpPr>
            <p:spPr>
              <a:xfrm>
                <a:off x="10056668" y="3310522"/>
                <a:ext cx="119235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2B7037DC-A209-DFCC-1821-7D4BA0F4D4D8}"/>
                      </a:ext>
                    </a:extLst>
                  </p:cNvPr>
                  <p:cNvSpPr txBox="1"/>
                  <p:nvPr/>
                </p:nvSpPr>
                <p:spPr>
                  <a:xfrm>
                    <a:off x="10323368" y="2908624"/>
                    <a:ext cx="4381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2B7037DC-A209-DFCC-1821-7D4BA0F4D4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3368" y="2908624"/>
                    <a:ext cx="438150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34722" b="-983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8C95B00D-2FF7-74A2-3C0D-75456BEAEB28}"/>
                  </a:ext>
                </a:extLst>
              </p:cNvPr>
              <p:cNvCxnSpPr/>
              <p:nvPr/>
            </p:nvCxnSpPr>
            <p:spPr>
              <a:xfrm>
                <a:off x="10056668" y="3834397"/>
                <a:ext cx="119235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976814E5-C8AC-9A55-6AA0-14B4A02452CB}"/>
                      </a:ext>
                    </a:extLst>
                  </p:cNvPr>
                  <p:cNvSpPr txBox="1"/>
                  <p:nvPr/>
                </p:nvSpPr>
                <p:spPr>
                  <a:xfrm>
                    <a:off x="10437668" y="3387964"/>
                    <a:ext cx="3238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976814E5-C8AC-9A55-6AA0-14B4A02452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37668" y="3387964"/>
                    <a:ext cx="323850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0FC902-B7BF-5264-9CBE-947E56065DDF}"/>
                      </a:ext>
                    </a:extLst>
                  </p:cNvPr>
                  <p:cNvSpPr txBox="1"/>
                  <p:nvPr/>
                </p:nvSpPr>
                <p:spPr>
                  <a:xfrm>
                    <a:off x="7381875" y="3865346"/>
                    <a:ext cx="4381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0FC902-B7BF-5264-9CBE-947E56065D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81875" y="3865346"/>
                    <a:ext cx="438150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43056" b="-163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F047491-BC21-6CED-1F0A-779D384FED8E}"/>
                      </a:ext>
                    </a:extLst>
                  </p:cNvPr>
                  <p:cNvSpPr txBox="1"/>
                  <p:nvPr/>
                </p:nvSpPr>
                <p:spPr>
                  <a:xfrm>
                    <a:off x="10323368" y="3865346"/>
                    <a:ext cx="4381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F047491-BC21-6CED-1F0A-779D384FED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3368" y="3865346"/>
                    <a:ext cx="438150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43056" b="-983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8A8CA91-FB23-13AB-1B49-8AD21967DAF4}"/>
                </a:ext>
              </a:extLst>
            </p:cNvPr>
            <p:cNvSpPr txBox="1"/>
            <p:nvPr/>
          </p:nvSpPr>
          <p:spPr>
            <a:xfrm>
              <a:off x="7115174" y="2625302"/>
              <a:ext cx="413385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b="1"/>
                <a:t>Figure 4. MIMO System</a:t>
              </a:r>
              <a:endParaRPr lang="ko-KR" altLang="en-US" sz="1600" b="1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DCDB2E3-11CD-2ED9-0E71-966397D093EB}"/>
              </a:ext>
            </a:extLst>
          </p:cNvPr>
          <p:cNvGrpSpPr/>
          <p:nvPr/>
        </p:nvGrpSpPr>
        <p:grpSpPr>
          <a:xfrm>
            <a:off x="7115174" y="4508450"/>
            <a:ext cx="4133851" cy="1969555"/>
            <a:chOff x="7115174" y="4508450"/>
            <a:chExt cx="4133851" cy="196955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EB1A74F5-087C-DE31-AD65-F45651648BBE}"/>
                </a:ext>
              </a:extLst>
            </p:cNvPr>
            <p:cNvGrpSpPr/>
            <p:nvPr/>
          </p:nvGrpSpPr>
          <p:grpSpPr>
            <a:xfrm>
              <a:off x="7115175" y="4966959"/>
              <a:ext cx="4133850" cy="1511046"/>
              <a:chOff x="6086475" y="5001794"/>
              <a:chExt cx="4133850" cy="1511046"/>
            </a:xfrm>
          </p:grpSpPr>
          <p:pic>
            <p:nvPicPr>
              <p:cNvPr id="1026" name="Picture 2" descr="Cartoon Trash Can Stock Illustrations – 7,821 Cartoon Trash ...">
                <a:extLst>
                  <a:ext uri="{FF2B5EF4-FFF2-40B4-BE49-F238E27FC236}">
                    <a16:creationId xmlns:a16="http://schemas.microsoft.com/office/drawing/2014/main" id="{AA6F950C-DC45-0BE8-0EAE-535F0365C6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14942" y="5380236"/>
                <a:ext cx="945610" cy="11213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D26BF4A7-411D-CFFE-BE9D-029A41D46BBE}"/>
                  </a:ext>
                </a:extLst>
              </p:cNvPr>
              <p:cNvSpPr/>
              <p:nvPr/>
            </p:nvSpPr>
            <p:spPr>
              <a:xfrm>
                <a:off x="7278832" y="5001794"/>
                <a:ext cx="1749136" cy="76357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System</a:t>
                </a:r>
                <a:endParaRPr lang="ko-KR" altLang="en-US" dirty="0"/>
              </a:p>
            </p:txBody>
          </p:sp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58306D80-C349-8261-3280-76ABA6FE3824}"/>
                  </a:ext>
                </a:extLst>
              </p:cNvPr>
              <p:cNvCxnSpPr/>
              <p:nvPr/>
            </p:nvCxnSpPr>
            <p:spPr>
              <a:xfrm>
                <a:off x="6086475" y="5395966"/>
                <a:ext cx="119235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직선 화살표 연결선 28">
                <a:extLst>
                  <a:ext uri="{FF2B5EF4-FFF2-40B4-BE49-F238E27FC236}">
                    <a16:creationId xmlns:a16="http://schemas.microsoft.com/office/drawing/2014/main" id="{9AACB1D4-146B-2BC9-7348-B1539BC2C901}"/>
                  </a:ext>
                </a:extLst>
              </p:cNvPr>
              <p:cNvCxnSpPr/>
              <p:nvPr/>
            </p:nvCxnSpPr>
            <p:spPr>
              <a:xfrm>
                <a:off x="9027968" y="5395966"/>
                <a:ext cx="119235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6" name="Picture 2" descr="Cartoon Trash Can Stock Illustrations – 7,821 Cartoon Trash ...">
                <a:extLst>
                  <a:ext uri="{FF2B5EF4-FFF2-40B4-BE49-F238E27FC236}">
                    <a16:creationId xmlns:a16="http://schemas.microsoft.com/office/drawing/2014/main" id="{C887D57D-47B0-6B2F-2167-E4F1AC7E9A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040938" y="5391502"/>
                <a:ext cx="945610" cy="11213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AB69AF0-ECFA-8804-B9FA-E55927CB5C0F}"/>
                </a:ext>
              </a:extLst>
            </p:cNvPr>
            <p:cNvSpPr txBox="1"/>
            <p:nvPr/>
          </p:nvSpPr>
          <p:spPr>
            <a:xfrm>
              <a:off x="7115174" y="4508450"/>
              <a:ext cx="413385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b="1"/>
                <a:t>Figure 5. GIGO System</a:t>
              </a:r>
              <a:endParaRPr lang="ko-KR" altLang="en-US" sz="1600" b="1"/>
            </a:p>
          </p:txBody>
        </p:sp>
      </p:grpSp>
    </p:spTree>
    <p:extLst>
      <p:ext uri="{BB962C8B-B14F-4D97-AF65-F5344CB8AC3E}">
        <p14:creationId xmlns:p14="http://schemas.microsoft.com/office/powerpoint/2010/main" val="70692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CCAB1-4C5F-711E-BB0E-E0B07BB7B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EF45A-F294-7516-884A-56BD64DC9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빅데이터 분석의 난점 </a:t>
            </a:r>
            <a:r>
              <a:rPr lang="en-US" altLang="ko-KR"/>
              <a:t>(1/7)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4A01875-7D9E-8A77-D870-AEEBAF08750E}"/>
              </a:ext>
            </a:extLst>
          </p:cNvPr>
          <p:cNvSpPr/>
          <p:nvPr/>
        </p:nvSpPr>
        <p:spPr>
          <a:xfrm>
            <a:off x="535975" y="1258855"/>
            <a:ext cx="4921850" cy="43815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3.1 </a:t>
            </a:r>
            <a:r>
              <a:rPr lang="ko-KR" altLang="en-US"/>
              <a:t>데이터 </a:t>
            </a:r>
            <a:r>
              <a:rPr lang="ko-KR" altLang="en-US" dirty="0"/>
              <a:t>품질 문제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F90947D-3605-8BED-3125-7F4ED632DBB9}"/>
              </a:ext>
            </a:extLst>
          </p:cNvPr>
          <p:cNvSpPr/>
          <p:nvPr/>
        </p:nvSpPr>
        <p:spPr>
          <a:xfrm>
            <a:off x="1462661" y="1776044"/>
            <a:ext cx="7501890" cy="4381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- </a:t>
            </a:r>
            <a:r>
              <a:rPr lang="ko-KR" altLang="en-US" dirty="0"/>
              <a:t>노이즈</a:t>
            </a:r>
            <a:r>
              <a:rPr lang="en-US" altLang="ko-KR" dirty="0"/>
              <a:t>, </a:t>
            </a:r>
            <a:r>
              <a:rPr lang="ko-KR" altLang="en-US" dirty="0" err="1"/>
              <a:t>결측치</a:t>
            </a:r>
            <a:r>
              <a:rPr lang="en-US" altLang="ko-KR" dirty="0"/>
              <a:t>, </a:t>
            </a:r>
            <a:r>
              <a:rPr lang="ko-KR" altLang="en-US" dirty="0"/>
              <a:t>중복된 데이터로 인한 분석 신뢰성 저하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D3F7162-F679-B856-9DD0-D98C4614DB29}"/>
              </a:ext>
            </a:extLst>
          </p:cNvPr>
          <p:cNvSpPr/>
          <p:nvPr/>
        </p:nvSpPr>
        <p:spPr>
          <a:xfrm>
            <a:off x="1462661" y="2327821"/>
            <a:ext cx="7501890" cy="4381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- </a:t>
            </a:r>
            <a:r>
              <a:rPr lang="ko-KR" altLang="en-US" dirty="0"/>
              <a:t>데이터의 일관성 및 정합성 부족으로 인한 </a:t>
            </a:r>
            <a:r>
              <a:rPr lang="ko-KR" altLang="en-US" dirty="0" err="1"/>
              <a:t>전처리</a:t>
            </a:r>
            <a:r>
              <a:rPr lang="ko-KR" altLang="en-US" dirty="0"/>
              <a:t> 복잡성 증가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725DCC5-3FA3-0CA7-A2A7-24134E51AAC9}"/>
              </a:ext>
            </a:extLst>
          </p:cNvPr>
          <p:cNvSpPr/>
          <p:nvPr/>
        </p:nvSpPr>
        <p:spPr>
          <a:xfrm>
            <a:off x="535975" y="3443218"/>
            <a:ext cx="4921850" cy="43815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3.2 </a:t>
            </a:r>
            <a:r>
              <a:rPr lang="ko-KR" altLang="en-US"/>
              <a:t>고차원 </a:t>
            </a:r>
            <a:r>
              <a:rPr lang="ko-KR" altLang="en-US" dirty="0"/>
              <a:t>데이터 처리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F4CF412-EF3C-76AD-E430-43776BCDECB9}"/>
              </a:ext>
            </a:extLst>
          </p:cNvPr>
          <p:cNvSpPr/>
          <p:nvPr/>
        </p:nvSpPr>
        <p:spPr>
          <a:xfrm>
            <a:off x="1462661" y="3989655"/>
            <a:ext cx="7501890" cy="4381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- </a:t>
            </a:r>
            <a:r>
              <a:rPr lang="ko-KR" altLang="en-US" dirty="0"/>
              <a:t>연산 비용 증가 및 해석 어려움</a:t>
            </a:r>
            <a:r>
              <a:rPr lang="en-US" altLang="ko-KR" dirty="0"/>
              <a:t>, </a:t>
            </a:r>
            <a:r>
              <a:rPr lang="ko-KR" altLang="en-US" dirty="0"/>
              <a:t>효율적인 차원 축소 필요</a:t>
            </a:r>
            <a:endParaRPr lang="en-US" altLang="ko-KR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21D25BB-3344-1B72-1466-C77D0F5754B4}"/>
              </a:ext>
            </a:extLst>
          </p:cNvPr>
          <p:cNvSpPr/>
          <p:nvPr/>
        </p:nvSpPr>
        <p:spPr>
          <a:xfrm>
            <a:off x="535975" y="4536092"/>
            <a:ext cx="4921850" cy="43815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3.3 </a:t>
            </a:r>
            <a:r>
              <a:rPr lang="ko-KR" altLang="en-US"/>
              <a:t>모델 </a:t>
            </a:r>
            <a:r>
              <a:rPr lang="ko-KR" altLang="en-US" dirty="0"/>
              <a:t>투명성 문제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FC52D9E-1C3C-DD63-046C-2D54D99541DE}"/>
              </a:ext>
            </a:extLst>
          </p:cNvPr>
          <p:cNvSpPr/>
          <p:nvPr/>
        </p:nvSpPr>
        <p:spPr>
          <a:xfrm>
            <a:off x="1462661" y="5118152"/>
            <a:ext cx="7501890" cy="4381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- </a:t>
            </a:r>
            <a:r>
              <a:rPr lang="ko-KR" altLang="en-US" dirty="0"/>
              <a:t>복잡한 모델일수록 결과 해석이 난해함</a:t>
            </a:r>
            <a:endParaRPr lang="en-US" altLang="ko-KR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22F8615-D848-DF2F-D5E1-9FAD81EF54A0}"/>
              </a:ext>
            </a:extLst>
          </p:cNvPr>
          <p:cNvSpPr/>
          <p:nvPr/>
        </p:nvSpPr>
        <p:spPr>
          <a:xfrm>
            <a:off x="1462661" y="5664589"/>
            <a:ext cx="7501890" cy="4381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- </a:t>
            </a:r>
            <a:r>
              <a:rPr lang="ko-KR" altLang="en-US" dirty="0"/>
              <a:t>투명성과 신뢰성을 확보하기 위한 기술 필요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DA0238D-EC98-50F1-C5F5-DAA97360BAD2}"/>
              </a:ext>
            </a:extLst>
          </p:cNvPr>
          <p:cNvSpPr/>
          <p:nvPr/>
        </p:nvSpPr>
        <p:spPr>
          <a:xfrm>
            <a:off x="1462661" y="2818789"/>
            <a:ext cx="7501890" cy="4381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- </a:t>
            </a:r>
            <a:r>
              <a:rPr lang="ko-KR" altLang="en-US" dirty="0"/>
              <a:t>데이터 정보량의 부족</a:t>
            </a:r>
          </a:p>
        </p:txBody>
      </p:sp>
    </p:spTree>
    <p:extLst>
      <p:ext uri="{BB962C8B-B14F-4D97-AF65-F5344CB8AC3E}">
        <p14:creationId xmlns:p14="http://schemas.microsoft.com/office/powerpoint/2010/main" val="242112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AEE7C-68B7-69CE-AAB0-0F60E31DF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빅데이터 </a:t>
            </a:r>
            <a:r>
              <a:rPr lang="ko-KR" altLang="en-US" dirty="0"/>
              <a:t>분석의 </a:t>
            </a:r>
            <a:r>
              <a:rPr lang="ko-KR" altLang="en-US"/>
              <a:t>난점 </a:t>
            </a:r>
            <a:r>
              <a:rPr lang="en-US" altLang="ko-KR"/>
              <a:t>(2/7)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0FB80-6DC5-B06F-BA37-FC8B8712F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3.1 데이터 품질 문제</a:t>
            </a:r>
          </a:p>
          <a:p>
            <a:pPr marL="274320" lvl="1" indent="0">
              <a:buNone/>
            </a:pPr>
            <a:r>
              <a:rPr lang="en-US" altLang="ko-KR"/>
              <a:t>3.1.1 Data </a:t>
            </a:r>
            <a:r>
              <a:rPr lang="en-US" altLang="ko-KR" dirty="0"/>
              <a:t>Warehouse VS </a:t>
            </a:r>
            <a:r>
              <a:rPr lang="en-US" altLang="ko-KR"/>
              <a:t>Data Lake</a:t>
            </a:r>
          </a:p>
          <a:p>
            <a:pPr marL="274320" lvl="1" indent="0">
              <a:buNone/>
            </a:pPr>
            <a:r>
              <a:rPr lang="en-US" altLang="ko-KR"/>
              <a:t>  Data Warehouse : </a:t>
            </a:r>
            <a:r>
              <a:rPr lang="ko-KR" altLang="en-US"/>
              <a:t>정형화</a:t>
            </a:r>
            <a:r>
              <a:rPr lang="en-US" altLang="ko-KR"/>
              <a:t>·</a:t>
            </a:r>
            <a:r>
              <a:rPr lang="ko-KR" altLang="en-US"/>
              <a:t>정제된 데이터를 저장하여 분석과 보고에 최적화된 구조</a:t>
            </a:r>
            <a:endParaRPr lang="en-US" altLang="ko-KR"/>
          </a:p>
          <a:p>
            <a:pPr marL="274320" lvl="1" indent="0">
              <a:buNone/>
            </a:pPr>
            <a:r>
              <a:rPr lang="en-US" altLang="ko-KR"/>
              <a:t>  Data Lake : </a:t>
            </a:r>
            <a:r>
              <a:rPr lang="ko-KR" altLang="en-US"/>
              <a:t>정형</a:t>
            </a:r>
            <a:r>
              <a:rPr lang="en-US" altLang="ko-KR"/>
              <a:t>·</a:t>
            </a:r>
            <a:r>
              <a:rPr lang="ko-KR" altLang="en-US"/>
              <a:t>비정형 데이터를 원본 그대로 저장하여 </a:t>
            </a:r>
            <a:r>
              <a:rPr lang="en-US" altLang="ko-KR"/>
              <a:t>AI·</a:t>
            </a:r>
            <a:r>
              <a:rPr lang="ko-KR" altLang="en-US"/>
              <a:t>빅데이터 활용에 적합한 구조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D5D7A77-3E06-1166-4322-B93F58725D4B}"/>
              </a:ext>
            </a:extLst>
          </p:cNvPr>
          <p:cNvGrpSpPr/>
          <p:nvPr/>
        </p:nvGrpSpPr>
        <p:grpSpPr>
          <a:xfrm>
            <a:off x="2600324" y="2487500"/>
            <a:ext cx="7319955" cy="4325235"/>
            <a:chOff x="2600324" y="2487500"/>
            <a:chExt cx="7319955" cy="4325235"/>
          </a:xfrm>
        </p:grpSpPr>
        <p:pic>
          <p:nvPicPr>
            <p:cNvPr id="5122" name="Picture 2" descr="DE] 빅데이터 저장소(Data Storage)">
              <a:extLst>
                <a:ext uri="{FF2B5EF4-FFF2-40B4-BE49-F238E27FC236}">
                  <a16:creationId xmlns:a16="http://schemas.microsoft.com/office/drawing/2014/main" id="{502F63EA-DC3A-044E-9890-A457D75DE4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00" b="14594"/>
            <a:stretch/>
          </p:blipFill>
          <p:spPr bwMode="auto">
            <a:xfrm>
              <a:off x="2600324" y="2780789"/>
              <a:ext cx="7319955" cy="4031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37A699-4169-64D6-AFF2-1C726E4DA876}"/>
                </a:ext>
              </a:extLst>
            </p:cNvPr>
            <p:cNvSpPr txBox="1"/>
            <p:nvPr/>
          </p:nvSpPr>
          <p:spPr>
            <a:xfrm>
              <a:off x="3994405" y="2487500"/>
              <a:ext cx="413385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b="1"/>
                <a:t>Figure 6. Data Warehouse </a:t>
              </a:r>
              <a:r>
                <a:rPr lang="ko-KR" altLang="en-US" sz="1600" b="1"/>
                <a:t>와 </a:t>
              </a:r>
              <a:r>
                <a:rPr lang="en-US" altLang="ko-KR" sz="1600" b="1"/>
                <a:t>Data Lake</a:t>
              </a:r>
              <a:endParaRPr lang="ko-KR" altLang="en-US" sz="1600" b="1"/>
            </a:p>
          </p:txBody>
        </p:sp>
      </p:grpSp>
    </p:spTree>
    <p:extLst>
      <p:ext uri="{BB962C8B-B14F-4D97-AF65-F5344CB8AC3E}">
        <p14:creationId xmlns:p14="http://schemas.microsoft.com/office/powerpoint/2010/main" val="380375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BF434-565B-559E-CCE6-A871E1D39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71A2B-F41E-4FCF-1EA3-62345D1D3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빅데이터 분석의 난점</a:t>
            </a:r>
            <a:r>
              <a:rPr lang="en-US" altLang="ko-KR"/>
              <a:t> (3/7)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27F8BD-3C23-9E74-D4E4-C6CBFD412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3.1 데이터 품질 문제</a:t>
            </a:r>
          </a:p>
          <a:p>
            <a:pPr marL="274320" lvl="1" indent="0">
              <a:buNone/>
            </a:pPr>
            <a:r>
              <a:rPr lang="en-US" altLang="ko-KR"/>
              <a:t>3.1.2 </a:t>
            </a:r>
            <a:r>
              <a:rPr lang="ko-KR" altLang="en-US"/>
              <a:t>종래의 데이터 수집 과정</a:t>
            </a:r>
            <a:endParaRPr lang="en-US" altLang="ko-KR"/>
          </a:p>
          <a:p>
            <a:pPr marL="502920" lvl="2" indent="0">
              <a:buNone/>
            </a:pPr>
            <a:r>
              <a:rPr lang="ko-KR" altLang="en-US" sz="1400"/>
              <a:t>불량 및 문제 대응 중심으로 이루어진 종래 데이터 관리 구조</a:t>
            </a:r>
            <a:endParaRPr lang="ko-KR" altLang="en-US" sz="1400" dirty="0"/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EAA41C6A-0FBE-230E-B2C6-A2992DAC9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30999"/>
              </p:ext>
            </p:extLst>
          </p:nvPr>
        </p:nvGraphicFramePr>
        <p:xfrm>
          <a:off x="546892" y="3284061"/>
          <a:ext cx="10691816" cy="2011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72954">
                  <a:extLst>
                    <a:ext uri="{9D8B030D-6E8A-4147-A177-3AD203B41FA5}">
                      <a16:colId xmlns:a16="http://schemas.microsoft.com/office/drawing/2014/main" val="1037237380"/>
                    </a:ext>
                  </a:extLst>
                </a:gridCol>
                <a:gridCol w="2672954">
                  <a:extLst>
                    <a:ext uri="{9D8B030D-6E8A-4147-A177-3AD203B41FA5}">
                      <a16:colId xmlns:a16="http://schemas.microsoft.com/office/drawing/2014/main" val="617520540"/>
                    </a:ext>
                  </a:extLst>
                </a:gridCol>
                <a:gridCol w="2672954">
                  <a:extLst>
                    <a:ext uri="{9D8B030D-6E8A-4147-A177-3AD203B41FA5}">
                      <a16:colId xmlns:a16="http://schemas.microsoft.com/office/drawing/2014/main" val="1900170926"/>
                    </a:ext>
                  </a:extLst>
                </a:gridCol>
                <a:gridCol w="2672954">
                  <a:extLst>
                    <a:ext uri="{9D8B030D-6E8A-4147-A177-3AD203B41FA5}">
                      <a16:colId xmlns:a16="http://schemas.microsoft.com/office/drawing/2014/main" val="249598561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Schema/Logic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Data Asset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5259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낙하 파손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낙하 높이 예측 알고리즘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낙하 높이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파손 시 낙하 이력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2916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Warpage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Warpage Max </a:t>
                      </a:r>
                      <a:r>
                        <a:rPr lang="ko-KR" altLang="en-US" sz="1800"/>
                        <a:t>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Warpage </a:t>
                      </a:r>
                      <a:r>
                        <a:rPr lang="ko-KR" altLang="en-US" sz="1800"/>
                        <a:t>전수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Spec Out </a:t>
                      </a:r>
                      <a:r>
                        <a:rPr lang="ko-KR" altLang="en-US" sz="1800"/>
                        <a:t>집계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83904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FPCB Crack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Folding Count </a:t>
                      </a:r>
                      <a:r>
                        <a:rPr lang="ko-KR" altLang="en-US" sz="1800"/>
                        <a:t>알고리즘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Folding </a:t>
                      </a:r>
                      <a:r>
                        <a:rPr lang="ko-KR" altLang="en-US" sz="1800"/>
                        <a:t>이력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/>
                        <a:t>Folding </a:t>
                      </a:r>
                      <a:r>
                        <a:rPr lang="ko-KR" altLang="en-US" sz="1800"/>
                        <a:t>횟수별 불량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73480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AF9DFD9A-3CC8-3157-4E8E-47572415408F}"/>
              </a:ext>
            </a:extLst>
          </p:cNvPr>
          <p:cNvSpPr txBox="1"/>
          <p:nvPr/>
        </p:nvSpPr>
        <p:spPr>
          <a:xfrm>
            <a:off x="2975231" y="2801559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/>
              <a:t>Table 1. </a:t>
            </a:r>
            <a:r>
              <a:rPr lang="ko-KR" altLang="en-US"/>
              <a:t>전통적 데이터 수집 및 활용 프로세스</a:t>
            </a:r>
          </a:p>
        </p:txBody>
      </p:sp>
    </p:spTree>
    <p:extLst>
      <p:ext uri="{BB962C8B-B14F-4D97-AF65-F5344CB8AC3E}">
        <p14:creationId xmlns:p14="http://schemas.microsoft.com/office/powerpoint/2010/main" val="401852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91990-E9B8-36EA-4C51-1166C6043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70729-516F-90E3-7C28-BFE2E2D6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빅데이터 </a:t>
            </a:r>
            <a:r>
              <a:rPr lang="ko-KR" altLang="en-US" dirty="0"/>
              <a:t>분석의 </a:t>
            </a:r>
            <a:r>
              <a:rPr lang="ko-KR" altLang="en-US"/>
              <a:t>난점 </a:t>
            </a:r>
            <a:r>
              <a:rPr lang="en-US" altLang="ko-KR"/>
              <a:t>(4/7)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52868C-6213-3DDC-609F-A43FC09EF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3.1 데이터 품질 문제</a:t>
            </a:r>
          </a:p>
          <a:p>
            <a:pPr marL="160020" lvl="1" indent="0">
              <a:buNone/>
            </a:pPr>
            <a:r>
              <a:rPr lang="en-US" altLang="ko-KR"/>
              <a:t> 3.1.3 </a:t>
            </a:r>
            <a:r>
              <a:rPr lang="ko-KR" altLang="en-US"/>
              <a:t>데이터 레이크의 활용</a:t>
            </a:r>
            <a:endParaRPr lang="en-US" altLang="ko-KR"/>
          </a:p>
          <a:p>
            <a:pPr lvl="1"/>
            <a:r>
              <a:rPr lang="ko-KR" altLang="en-US"/>
              <a:t>문제 발생 이전부터 데이터를 지속적으로 축적하고</a:t>
            </a:r>
            <a:r>
              <a:rPr lang="en-US" altLang="ko-KR"/>
              <a:t>, </a:t>
            </a:r>
            <a:r>
              <a:rPr lang="ko-KR" altLang="en-US"/>
              <a:t>발생한 이슈를 데이터 기반 분석</a:t>
            </a:r>
            <a:r>
              <a:rPr lang="en-US" altLang="ko-KR"/>
              <a:t>·</a:t>
            </a:r>
            <a:r>
              <a:rPr lang="ko-KR" altLang="en-US"/>
              <a:t>활용으로 연결하는 선제적 데이터 활용 구조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C56B5F-2A53-5816-7581-8C924799143B}"/>
              </a:ext>
            </a:extLst>
          </p:cNvPr>
          <p:cNvSpPr txBox="1"/>
          <p:nvPr/>
        </p:nvSpPr>
        <p:spPr>
          <a:xfrm>
            <a:off x="3340100" y="2378509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Table 2. </a:t>
            </a:r>
            <a:r>
              <a:rPr lang="ko-KR" altLang="en-US"/>
              <a:t>데이터 레이크 기반 문제 분석 및 활용 체계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3C4B2180-FECD-F3BB-BD35-20E7BF71F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987214"/>
              </p:ext>
            </p:extLst>
          </p:nvPr>
        </p:nvGraphicFramePr>
        <p:xfrm>
          <a:off x="466724" y="2974181"/>
          <a:ext cx="11725276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31319">
                  <a:extLst>
                    <a:ext uri="{9D8B030D-6E8A-4147-A177-3AD203B41FA5}">
                      <a16:colId xmlns:a16="http://schemas.microsoft.com/office/drawing/2014/main" val="1335304790"/>
                    </a:ext>
                  </a:extLst>
                </a:gridCol>
                <a:gridCol w="2931319">
                  <a:extLst>
                    <a:ext uri="{9D8B030D-6E8A-4147-A177-3AD203B41FA5}">
                      <a16:colId xmlns:a16="http://schemas.microsoft.com/office/drawing/2014/main" val="3066982271"/>
                    </a:ext>
                  </a:extLst>
                </a:gridCol>
                <a:gridCol w="2931319">
                  <a:extLst>
                    <a:ext uri="{9D8B030D-6E8A-4147-A177-3AD203B41FA5}">
                      <a16:colId xmlns:a16="http://schemas.microsoft.com/office/drawing/2014/main" val="3389038685"/>
                    </a:ext>
                  </a:extLst>
                </a:gridCol>
                <a:gridCol w="2931319">
                  <a:extLst>
                    <a:ext uri="{9D8B030D-6E8A-4147-A177-3AD203B41FA5}">
                      <a16:colId xmlns:a16="http://schemas.microsoft.com/office/drawing/2014/main" val="224152699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Data Lake </a:t>
                      </a:r>
                      <a:r>
                        <a:rPr lang="ko-KR" altLang="en-US" sz="1800"/>
                        <a:t>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문제 발생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데이터 분석 및 탐색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데이터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17662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낙하 이력 센서 데이터 집계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낙하 크랙 문제 발생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낙하 이력 디지털트윈 분석 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낙하 원인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01045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/>
                        <a:t>Warpage </a:t>
                      </a:r>
                      <a:r>
                        <a:rPr lang="ko-KR" altLang="en-US" sz="1800"/>
                        <a:t>분포 전수 데이터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Warpage </a:t>
                      </a:r>
                      <a:r>
                        <a:rPr lang="ko-KR" altLang="en-US" sz="1800"/>
                        <a:t>불량 발생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/>
                        <a:t>Warpage </a:t>
                      </a:r>
                      <a:r>
                        <a:rPr lang="ko-KR" altLang="en-US" sz="1800"/>
                        <a:t>전수 데이터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불량 모드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1131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폴딩 시간</a:t>
                      </a:r>
                      <a:r>
                        <a:rPr lang="en-US" altLang="ko-KR" sz="1800"/>
                        <a:t>·</a:t>
                      </a:r>
                      <a:r>
                        <a:rPr lang="ko-KR" altLang="en-US" sz="1800"/>
                        <a:t>횟수</a:t>
                      </a:r>
                      <a:r>
                        <a:rPr lang="en-US" altLang="ko-KR" sz="1800"/>
                        <a:t>·</a:t>
                      </a:r>
                      <a:r>
                        <a:rPr lang="ko-KR" altLang="en-US" sz="1800"/>
                        <a:t>온도 등 센서 데이터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폴더블폰 </a:t>
                      </a:r>
                      <a:r>
                        <a:rPr lang="en-US" altLang="ko-KR" sz="1800"/>
                        <a:t>FPCB </a:t>
                      </a:r>
                      <a:r>
                        <a:rPr lang="ko-KR" altLang="en-US" sz="1800"/>
                        <a:t>크랙 발생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Folding </a:t>
                      </a:r>
                      <a:r>
                        <a:rPr lang="ko-KR" altLang="en-US" sz="1800"/>
                        <a:t>경향성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/>
                        <a:t>Folding </a:t>
                      </a:r>
                      <a:r>
                        <a:rPr lang="ko-KR" altLang="en-US" sz="1800"/>
                        <a:t>환경 조건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458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328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57BEB-295F-F6AC-13F8-E821613E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6F7689-B7D8-0233-7DAB-C36BD23A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빅데이터 분석의 난점 </a:t>
            </a:r>
            <a:r>
              <a:rPr lang="en-US" altLang="ko-KR"/>
              <a:t>(5/7)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68EDF88-B715-7589-50C7-A5B446C9B0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3.2 고차원 데이터 처리</a:t>
                </a:r>
              </a:p>
              <a:p>
                <a:pPr marL="274320" lvl="1" indent="0">
                  <a:buNone/>
                </a:pPr>
                <a:r>
                  <a:rPr lang="en-US" altLang="ko-KR"/>
                  <a:t>3.2.1 </a:t>
                </a:r>
                <a:r>
                  <a:rPr lang="ko-KR" altLang="en-US"/>
                  <a:t>차원의 </a:t>
                </a:r>
                <a:r>
                  <a:rPr lang="ko-KR" altLang="en-US" dirty="0"/>
                  <a:t>저주</a:t>
                </a:r>
                <a:r>
                  <a:rPr lang="en-US" altLang="ko-KR" dirty="0"/>
                  <a:t> (The Curse of </a:t>
                </a:r>
                <a:r>
                  <a:rPr lang="en-US" altLang="ko-KR"/>
                  <a:t>Dimensionality)</a:t>
                </a:r>
              </a:p>
              <a:p>
                <a:pPr marL="388620" lvl="2" indent="0">
                  <a:buNone/>
                </a:pPr>
                <a:r>
                  <a:rPr lang="en-US" altLang="ko-KR" b="0">
                    <a:solidFill>
                      <a:srgbClr val="4D5156"/>
                    </a:solidFill>
                    <a:latin typeface="Arial" panose="020B0604020202020204" pitchFamily="34" charset="0"/>
                  </a:rPr>
                  <a:t>- </a:t>
                </a:r>
                <a:r>
                  <a:rPr lang="ko-KR" altLang="en-US" b="0">
                    <a:solidFill>
                      <a:srgbClr val="4D5156"/>
                    </a:solidFill>
                    <a:latin typeface="Arial" panose="020B0604020202020204" pitchFamily="34" charset="0"/>
                  </a:rPr>
                  <a:t>데이터 </a:t>
                </a:r>
                <a:r>
                  <a:rPr lang="ko-KR" altLang="en-US" b="0" dirty="0">
                    <a:solidFill>
                      <a:srgbClr val="4D5156"/>
                    </a:solidFill>
                    <a:latin typeface="Arial" panose="020B0604020202020204" pitchFamily="34" charset="0"/>
                  </a:rPr>
                  <a:t>학습을 위해 차원이 증가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4D5156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b="0" dirty="0">
                    <a:solidFill>
                      <a:srgbClr val="4D5156"/>
                    </a:solidFill>
                    <a:latin typeface="Arial" panose="020B0604020202020204" pitchFamily="34" charset="0"/>
                  </a:rPr>
                  <a:t> 학습데이터 수가 차원 수보다 적어져 성능 저하</a:t>
                </a:r>
                <a:endParaRPr lang="ko-KR" altLang="en-US" dirty="0"/>
              </a:p>
              <a:p>
                <a:pPr marL="274320" lvl="1" indent="0">
                  <a:buNone/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68EDF88-B715-7589-50C7-A5B446C9B0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 descr="고차원 데이터와 차원의 저주(High-dimensional data and curse of dimensionality)">
            <a:extLst>
              <a:ext uri="{FF2B5EF4-FFF2-40B4-BE49-F238E27FC236}">
                <a16:creationId xmlns:a16="http://schemas.microsoft.com/office/drawing/2014/main" id="{B0A2E369-BBC4-A845-EAF4-D48AF5A18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078" y="2847717"/>
            <a:ext cx="3761843" cy="3665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8FB1D5-B665-32A4-CAC1-21CB180A5BEC}"/>
              </a:ext>
            </a:extLst>
          </p:cNvPr>
          <p:cNvSpPr txBox="1"/>
          <p:nvPr/>
        </p:nvSpPr>
        <p:spPr>
          <a:xfrm>
            <a:off x="3149600" y="2478385"/>
            <a:ext cx="647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Figure 7. </a:t>
            </a:r>
            <a:r>
              <a:rPr lang="ko-KR" altLang="en-US"/>
              <a:t>차원의 저주</a:t>
            </a:r>
            <a:r>
              <a:rPr lang="en-US" altLang="ko-KR"/>
              <a:t>(Curse of Dimensionality) </a:t>
            </a:r>
            <a:r>
              <a:rPr lang="ko-KR" altLang="en-US"/>
              <a:t>개념</a:t>
            </a:r>
          </a:p>
        </p:txBody>
      </p:sp>
    </p:spTree>
    <p:extLst>
      <p:ext uri="{BB962C8B-B14F-4D97-AF65-F5344CB8AC3E}">
        <p14:creationId xmlns:p14="http://schemas.microsoft.com/office/powerpoint/2010/main" val="363202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AC8CE-DFAB-DB88-964E-D46D56D5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FF052-0DD2-2F6E-F49D-F8620E0A9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빅데이터 분석의 난점 </a:t>
            </a:r>
            <a:r>
              <a:rPr lang="en-US" altLang="ko-KR"/>
              <a:t>(6/7)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53E8AA-74DA-C3CC-06C8-075673ABB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3.2 고차원 데이터 처리</a:t>
            </a:r>
          </a:p>
          <a:p>
            <a:pPr marL="160020" lvl="1" indent="0">
              <a:buNone/>
            </a:pPr>
            <a:r>
              <a:rPr lang="en-US" altLang="ko-KR"/>
              <a:t>3.2.1</a:t>
            </a:r>
            <a:r>
              <a:rPr lang="ko-KR" altLang="en-US"/>
              <a:t> 시뮬레이션과 </a:t>
            </a:r>
            <a:r>
              <a:rPr lang="en-US" altLang="ko-KR"/>
              <a:t>AI</a:t>
            </a:r>
            <a:r>
              <a:rPr lang="ko-KR" altLang="en-US"/>
              <a:t>의 계산 구조 비교</a:t>
            </a:r>
            <a:endParaRPr lang="en-US" altLang="ko-KR"/>
          </a:p>
          <a:p>
            <a:pPr marL="388620" lvl="2" indent="0">
              <a:buNone/>
            </a:pPr>
            <a:r>
              <a:rPr lang="en-US" altLang="ko-KR"/>
              <a:t>3.2.1.1 </a:t>
            </a:r>
            <a:r>
              <a:rPr lang="ko-KR" altLang="en-US"/>
              <a:t>계산 복잡도와 수렴 특성 기반의 해석 방법 비교</a:t>
            </a:r>
            <a:endParaRPr lang="en-US" altLang="ko-KR" dirty="0"/>
          </a:p>
          <a:p>
            <a:pPr lvl="2"/>
            <a:r>
              <a:rPr lang="ko-KR" altLang="en-US"/>
              <a:t>시뮬레이션과 </a:t>
            </a:r>
            <a:r>
              <a:rPr lang="en-US" altLang="ko-KR"/>
              <a:t>AI</a:t>
            </a:r>
            <a:r>
              <a:rPr lang="ko-KR" altLang="en-US"/>
              <a:t>는 계산 복잡도와 수렴 안정성이 핵심 요소</a:t>
            </a:r>
          </a:p>
          <a:p>
            <a:pPr lvl="2"/>
            <a:r>
              <a:rPr lang="en-US" altLang="ko-KR"/>
              <a:t>Explicit/Implicit </a:t>
            </a:r>
            <a:r>
              <a:rPr lang="ko-KR" altLang="en-US"/>
              <a:t>및 </a:t>
            </a:r>
            <a:r>
              <a:rPr lang="en-US" altLang="ko-KR"/>
              <a:t>Neural Network </a:t>
            </a:r>
            <a:r>
              <a:rPr lang="ko-KR" altLang="en-US"/>
              <a:t>구조에 따라 계산량과 성능이 결정됨</a:t>
            </a:r>
          </a:p>
          <a:p>
            <a:pPr lvl="2"/>
            <a:r>
              <a:rPr lang="en-US" altLang="ko-KR"/>
              <a:t>Δt, </a:t>
            </a:r>
            <a:r>
              <a:rPr lang="ko-KR" altLang="en-US"/>
              <a:t>파라미터 수</a:t>
            </a:r>
            <a:r>
              <a:rPr lang="en-US" altLang="ko-KR"/>
              <a:t>, </a:t>
            </a:r>
            <a:r>
              <a:rPr lang="ko-KR" altLang="en-US"/>
              <a:t>연산 구조가 </a:t>
            </a:r>
            <a:r>
              <a:rPr lang="en-US" altLang="ko-KR"/>
              <a:t>HPC·AI </a:t>
            </a:r>
            <a:r>
              <a:rPr lang="ko-KR" altLang="en-US"/>
              <a:t>시스템 규모와 효율성에 큰 영향 줌</a:t>
            </a:r>
          </a:p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A10580-F300-1079-A40C-43E81950A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688341"/>
              </p:ext>
            </p:extLst>
          </p:nvPr>
        </p:nvGraphicFramePr>
        <p:xfrm>
          <a:off x="0" y="3586760"/>
          <a:ext cx="11725272" cy="2926080"/>
        </p:xfrm>
        <a:graphic>
          <a:graphicData uri="http://schemas.openxmlformats.org/drawingml/2006/table">
            <a:tbl>
              <a:tblPr/>
              <a:tblGrid>
                <a:gridCol w="1954212">
                  <a:extLst>
                    <a:ext uri="{9D8B030D-6E8A-4147-A177-3AD203B41FA5}">
                      <a16:colId xmlns:a16="http://schemas.microsoft.com/office/drawing/2014/main" val="1452560085"/>
                    </a:ext>
                  </a:extLst>
                </a:gridCol>
                <a:gridCol w="1954212">
                  <a:extLst>
                    <a:ext uri="{9D8B030D-6E8A-4147-A177-3AD203B41FA5}">
                      <a16:colId xmlns:a16="http://schemas.microsoft.com/office/drawing/2014/main" val="693006259"/>
                    </a:ext>
                  </a:extLst>
                </a:gridCol>
                <a:gridCol w="1954212">
                  <a:extLst>
                    <a:ext uri="{9D8B030D-6E8A-4147-A177-3AD203B41FA5}">
                      <a16:colId xmlns:a16="http://schemas.microsoft.com/office/drawing/2014/main" val="516939897"/>
                    </a:ext>
                  </a:extLst>
                </a:gridCol>
                <a:gridCol w="1954212">
                  <a:extLst>
                    <a:ext uri="{9D8B030D-6E8A-4147-A177-3AD203B41FA5}">
                      <a16:colId xmlns:a16="http://schemas.microsoft.com/office/drawing/2014/main" val="4061877629"/>
                    </a:ext>
                  </a:extLst>
                </a:gridCol>
                <a:gridCol w="1954212">
                  <a:extLst>
                    <a:ext uri="{9D8B030D-6E8A-4147-A177-3AD203B41FA5}">
                      <a16:colId xmlns:a16="http://schemas.microsoft.com/office/drawing/2014/main" val="3918603334"/>
                    </a:ext>
                  </a:extLst>
                </a:gridCol>
                <a:gridCol w="1954212">
                  <a:extLst>
                    <a:ext uri="{9D8B030D-6E8A-4147-A177-3AD203B41FA5}">
                      <a16:colId xmlns:a16="http://schemas.microsoft.com/office/drawing/2014/main" val="284664720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Subtype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Stability / </a:t>
                      </a:r>
                      <a:r>
                        <a:rPr lang="el-GR" sz="1800"/>
                        <a:t>Δ</a:t>
                      </a:r>
                      <a:r>
                        <a:rPr lang="en-US" sz="1800"/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41220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Simulation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Explicit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Central 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매우 작은 </a:t>
                      </a:r>
                      <a:r>
                        <a:rPr lang="en-US" altLang="ko-KR" sz="1800"/>
                        <a:t>Δt </a:t>
                      </a:r>
                      <a:r>
                        <a:rPr lang="ko-KR" altLang="en-US" sz="1800"/>
                        <a:t>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빠르지만 조건부 안정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29486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Simulation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Implicit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Newton-Raphson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O(n³) </a:t>
                      </a:r>
                      <a:r>
                        <a:rPr lang="ko-KR" altLang="en-US" sz="1800"/>
                        <a:t>또는 </a:t>
                      </a:r>
                      <a:r>
                        <a:rPr lang="en-US" sz="1800"/>
                        <a:t>O(n²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큰 </a:t>
                      </a:r>
                      <a:r>
                        <a:rPr lang="el-GR" sz="1800"/>
                        <a:t>Δ</a:t>
                      </a:r>
                      <a:r>
                        <a:rPr lang="en-US" sz="1800"/>
                        <a:t>t </a:t>
                      </a:r>
                      <a:r>
                        <a:rPr lang="ko-KR" altLang="en-US" sz="1800"/>
                        <a:t>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안정적이나 계산량 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63137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Machine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Fully Connected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Dense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O(B×N×M)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뉴런 연결 기반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76758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Machine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Forward 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O(P)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/>
                        <a:t>파라미터 수 비례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20213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3AEC379-6C4A-D934-5766-9B6A0A2FDBF8}"/>
              </a:ext>
            </a:extLst>
          </p:cNvPr>
          <p:cNvSpPr txBox="1"/>
          <p:nvPr/>
        </p:nvSpPr>
        <p:spPr>
          <a:xfrm>
            <a:off x="0" y="3218934"/>
            <a:ext cx="1172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/>
              <a:t>Table 3. </a:t>
            </a:r>
            <a:r>
              <a:rPr lang="ko-KR" altLang="en-US"/>
              <a:t>계산 방법론 구조화 예시</a:t>
            </a:r>
          </a:p>
        </p:txBody>
      </p:sp>
    </p:spTree>
    <p:extLst>
      <p:ext uri="{BB962C8B-B14F-4D97-AF65-F5344CB8AC3E}">
        <p14:creationId xmlns:p14="http://schemas.microsoft.com/office/powerpoint/2010/main" val="3587371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23EC7-ACD6-CEC2-5136-2A02811B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C9F60-CE89-6B29-B1C7-795685B73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3. </a:t>
            </a:r>
            <a:r>
              <a:rPr lang="ko-KR" altLang="en-US"/>
              <a:t>빅데이터 분석의 난점 </a:t>
            </a:r>
            <a:r>
              <a:rPr lang="en-US" altLang="ko-KR"/>
              <a:t>(7/7)</a:t>
            </a:r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0E2D1-0A1B-3BAB-3AB0-D435BAF43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3.3 </a:t>
            </a:r>
            <a:r>
              <a:rPr lang="ko-KR" altLang="en-US"/>
              <a:t>모델 투명성 문제 </a:t>
            </a:r>
            <a:endParaRPr lang="en-US" altLang="ko-KR"/>
          </a:p>
          <a:p>
            <a:pPr marL="274320" lvl="1" indent="0">
              <a:buNone/>
            </a:pPr>
            <a:r>
              <a:rPr lang="en-US" altLang="ko-KR"/>
              <a:t>- </a:t>
            </a:r>
            <a:r>
              <a:rPr lang="ko-KR" altLang="en-US"/>
              <a:t>복잡한 </a:t>
            </a:r>
            <a:r>
              <a:rPr lang="ko-KR" altLang="en-US" dirty="0"/>
              <a:t>시스템 분석</a:t>
            </a:r>
            <a:r>
              <a:rPr lang="en-US" altLang="ko-KR" dirty="0"/>
              <a:t>, </a:t>
            </a:r>
            <a:r>
              <a:rPr lang="ko-KR" altLang="en-US" dirty="0"/>
              <a:t>투명성</a:t>
            </a:r>
            <a:r>
              <a:rPr lang="en-US" altLang="ko-KR" dirty="0"/>
              <a:t> </a:t>
            </a:r>
            <a:r>
              <a:rPr lang="ko-KR" altLang="en-US" dirty="0"/>
              <a:t>및 신뢰성 </a:t>
            </a:r>
            <a:r>
              <a:rPr lang="en-US" altLang="ko-KR" dirty="0" err="1"/>
              <a:t>확보의</a:t>
            </a:r>
            <a:r>
              <a:rPr lang="en-US" altLang="ko-KR" dirty="0"/>
              <a:t> </a:t>
            </a:r>
            <a:r>
              <a:rPr lang="en-US" altLang="ko-KR" dirty="0" err="1"/>
              <a:t>어려움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en-US" altLang="ko-KR"/>
              <a:t>DOE</a:t>
            </a:r>
            <a:r>
              <a:rPr lang="ko-KR" altLang="en-US"/>
              <a:t> </a:t>
            </a:r>
            <a:r>
              <a:rPr lang="ko-KR" altLang="en-US" dirty="0"/>
              <a:t>기반의 최적화 방법들과 </a:t>
            </a:r>
            <a:r>
              <a:rPr lang="en-US" altLang="ko-KR" dirty="0"/>
              <a:t>AI/</a:t>
            </a:r>
            <a:r>
              <a:rPr lang="en-US" altLang="ko-KR" dirty="0" err="1"/>
              <a:t>ML의</a:t>
            </a:r>
            <a:r>
              <a:rPr lang="en-US" altLang="ko-KR" dirty="0"/>
              <a:t> </a:t>
            </a:r>
            <a:r>
              <a:rPr lang="en-US" altLang="ko-KR" err="1"/>
              <a:t>잠재적</a:t>
            </a:r>
            <a:r>
              <a:rPr lang="en-US" altLang="ko-KR"/>
              <a:t> 리스크</a:t>
            </a:r>
          </a:p>
          <a:p>
            <a:pPr marL="274320" lvl="1" indent="0">
              <a:buNone/>
            </a:pPr>
            <a:r>
              <a:rPr lang="en-US" altLang="ko-KR"/>
              <a:t>3.3.1 </a:t>
            </a:r>
            <a:r>
              <a:rPr lang="ko-KR" altLang="en-US"/>
              <a:t>모델 복잡성</a:t>
            </a:r>
            <a:r>
              <a:rPr lang="en-US" altLang="ko-KR"/>
              <a:t>/</a:t>
            </a:r>
            <a:r>
              <a:rPr lang="ko-KR" altLang="en-US"/>
              <a:t>비선형 상호작용</a:t>
            </a:r>
            <a:endParaRPr lang="en-US" altLang="ko-KR"/>
          </a:p>
          <a:p>
            <a:pPr marL="502920" lvl="2" indent="0">
              <a:buNone/>
            </a:pPr>
            <a:r>
              <a:rPr lang="en-US" altLang="ko-KR"/>
              <a:t>- </a:t>
            </a:r>
            <a:r>
              <a:rPr lang="ko-KR" altLang="en-US"/>
              <a:t>변수의 비선형적인 민감도</a:t>
            </a:r>
          </a:p>
          <a:p>
            <a:pPr marL="502920" lvl="2" indent="0">
              <a:buNone/>
            </a:pPr>
            <a:r>
              <a:rPr lang="en-US" altLang="ko-KR"/>
              <a:t>- </a:t>
            </a:r>
            <a:r>
              <a:rPr lang="ko-KR" altLang="en-US"/>
              <a:t>모델의 복잡성을 확인할 수 없는 경우</a:t>
            </a:r>
            <a:r>
              <a:rPr lang="en-US" altLang="ko-KR"/>
              <a:t>(AI/ML) </a:t>
            </a:r>
            <a:r>
              <a:rPr lang="ko-KR" altLang="en-US"/>
              <a:t>분석의 정합성 감소</a:t>
            </a:r>
          </a:p>
          <a:p>
            <a:pPr marL="274320" lvl="1" indent="0">
              <a:buNone/>
            </a:pPr>
            <a:r>
              <a:rPr lang="en-US" altLang="ko-KR"/>
              <a:t>3.3.2 </a:t>
            </a:r>
            <a:r>
              <a:rPr lang="ko-KR" altLang="en-US"/>
              <a:t>변수의 의존성</a:t>
            </a:r>
            <a:endParaRPr lang="en-US" altLang="ko-KR"/>
          </a:p>
          <a:p>
            <a:pPr marL="502920" lvl="2" indent="0">
              <a:buNone/>
            </a:pPr>
            <a:r>
              <a:rPr lang="en-US" altLang="ko-KR"/>
              <a:t>- </a:t>
            </a:r>
            <a:r>
              <a:rPr lang="ko-KR" altLang="en-US"/>
              <a:t>상호의존 변수들의 관계 불명하여 모델의 투명도 감소  </a:t>
            </a:r>
            <a:endParaRPr lang="en-US" altLang="ko-KR"/>
          </a:p>
          <a:p>
            <a:pPr marL="274320" lvl="1" indent="0">
              <a:buNone/>
            </a:pPr>
            <a:endParaRPr lang="ko-KR" altLang="en-US"/>
          </a:p>
          <a:p>
            <a:pPr marL="274320" lvl="1" indent="0">
              <a:buNone/>
            </a:pPr>
            <a:endParaRPr lang="ko-KR" altLang="en-US"/>
          </a:p>
          <a:p>
            <a:pPr lvl="1">
              <a:buFontTx/>
              <a:buChar char="-"/>
            </a:pPr>
            <a:endParaRPr lang="en-US" altLang="ko-KR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52531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AnalogousFromLightSeedRightStep">
      <a:dk1>
        <a:srgbClr val="000000"/>
      </a:dk1>
      <a:lt1>
        <a:srgbClr val="FFFFFF"/>
      </a:lt1>
      <a:dk2>
        <a:srgbClr val="413424"/>
      </a:dk2>
      <a:lt2>
        <a:srgbClr val="E2E5E8"/>
      </a:lt2>
      <a:accent1>
        <a:srgbClr val="D19651"/>
      </a:accent1>
      <a:accent2>
        <a:srgbClr val="A9A64F"/>
      </a:accent2>
      <a:accent3>
        <a:srgbClr val="90AB63"/>
      </a:accent3>
      <a:accent4>
        <a:srgbClr val="66B253"/>
      </a:accent4>
      <a:accent5>
        <a:srgbClr val="58B46B"/>
      </a:accent5>
      <a:accent6>
        <a:srgbClr val="53B28E"/>
      </a:accent6>
      <a:hlink>
        <a:srgbClr val="6283AA"/>
      </a:hlink>
      <a:folHlink>
        <a:srgbClr val="7F7F7F"/>
      </a:folHlink>
    </a:clrScheme>
    <a:fontScheme name="Office 2013 - 2022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22463</TotalTime>
  <Words>858</Words>
  <Application>Microsoft Office PowerPoint</Application>
  <PresentationFormat>와이드스크린</PresentationFormat>
  <Paragraphs>156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Cambria Math</vt:lpstr>
      <vt:lpstr>Neue Haas Grotesk Text Pro</vt:lpstr>
      <vt:lpstr>Noto Sans</vt:lpstr>
      <vt:lpstr>Wingdings</vt:lpstr>
      <vt:lpstr>BjornVTI</vt:lpstr>
      <vt:lpstr>AI와 빅데이터 시대 :  고품질 데이터와 디지털 트윈을 통한 시뮬레이션 혁신</vt:lpstr>
      <vt:lpstr>1. 2023년 국내 AI 도입 및 활용 조사 (1/2)</vt:lpstr>
      <vt:lpstr>1. 2023년 국내 AI 도입 및 활용 조사 (2/2)</vt:lpstr>
      <vt:lpstr>2. 데이터 마이닝의 중요성</vt:lpstr>
      <vt:lpstr>3. 빅데이터 분석의 난점 (1/7)</vt:lpstr>
      <vt:lpstr>3. 빅데이터 분석의 난점 (2/7)</vt:lpstr>
      <vt:lpstr>3. 빅데이터 분석의 난점 (3/7)</vt:lpstr>
      <vt:lpstr>3. 빅데이터 분석의 난점 (4/7)</vt:lpstr>
      <vt:lpstr>3. 빅데이터 분석의 난점 (5/7)</vt:lpstr>
      <vt:lpstr>3. 빅데이터 분석의 난점 (6/7)</vt:lpstr>
      <vt:lpstr>3. 빅데이터 분석의 난점 (7/7)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구조 시뮬레이션 정합성 고도화 Vision</dc:title>
  <dc:creator>국진 박</dc:creator>
  <cp:lastModifiedBy>국진 박</cp:lastModifiedBy>
  <cp:revision>35</cp:revision>
  <dcterms:created xsi:type="dcterms:W3CDTF">2024-05-11T22:31:10Z</dcterms:created>
  <dcterms:modified xsi:type="dcterms:W3CDTF">2026-05-08T14:28:47Z</dcterms:modified>
</cp:coreProperties>
</file>
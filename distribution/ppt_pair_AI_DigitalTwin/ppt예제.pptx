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8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D0EB1-31D7-46F8-8FFB-E3937B0BF87E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3F56E-D7C2-4537-AC9A-03EC52678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32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176" y="4389120"/>
            <a:ext cx="11724310" cy="896084"/>
          </a:xfrm>
        </p:spPr>
        <p:txBody>
          <a:bodyPr anchor="ctr">
            <a:noAutofit/>
          </a:bodyPr>
          <a:lstStyle>
            <a:lvl1pPr algn="ctr"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6" y="5285204"/>
            <a:ext cx="11724310" cy="605748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 descr="거미줄 같이 연결된 점들">
            <a:extLst>
              <a:ext uri="{FF2B5EF4-FFF2-40B4-BE49-F238E27FC236}">
                <a16:creationId xmlns:a16="http://schemas.microsoft.com/office/drawing/2014/main" id="{251C4334-46CE-BBA3-D29D-FD04585A4D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4248" b="1523"/>
          <a:stretch/>
        </p:blipFill>
        <p:spPr>
          <a:xfrm>
            <a:off x="20" y="-32762"/>
            <a:ext cx="12191979" cy="404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4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6" y="2715065"/>
            <a:ext cx="11724309" cy="1856936"/>
          </a:xfrm>
        </p:spPr>
        <p:txBody>
          <a:bodyPr anchor="t">
            <a:normAutofit/>
          </a:bodyPr>
          <a:lstStyle>
            <a:lvl1pPr algn="ctr">
              <a:defRPr sz="4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4726745"/>
            <a:ext cx="11724309" cy="576776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86581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177" y="934418"/>
            <a:ext cx="5724514" cy="5307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4416"/>
            <a:ext cx="5931310" cy="53074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1999" cy="838856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838856"/>
            <a:ext cx="5798501" cy="4105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9176" y="1249378"/>
            <a:ext cx="5798501" cy="49402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38856"/>
            <a:ext cx="5798501" cy="4105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1" y="1249378"/>
            <a:ext cx="5798502" cy="49402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7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5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5"/>
            <a:ext cx="12192000" cy="6609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932507"/>
            <a:ext cx="11724310" cy="5353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5178" y="6389688"/>
            <a:ext cx="5325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9176" y="6389688"/>
            <a:ext cx="5325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814010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51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sungsds.com/kr/insights/2023-ai-survey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5CFDA-9422-DE78-C184-FF6F65895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와 빅데이터 시대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 고품질 데이터와 디지털 트윈을 통한 시뮬레이션 혁신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C8804D-3113-CD5D-5325-BC1EC84EE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6" y="5285204"/>
            <a:ext cx="11724310" cy="1058446"/>
          </a:xfrm>
        </p:spPr>
        <p:txBody>
          <a:bodyPr>
            <a:normAutofit/>
          </a:bodyPr>
          <a:lstStyle/>
          <a:p>
            <a:r>
              <a:rPr lang="en-US" altLang="ko-KR" dirty="0"/>
              <a:t>CAE</a:t>
            </a:r>
            <a:r>
              <a:rPr lang="ko-KR" altLang="en-US" dirty="0"/>
              <a:t> 그룹 </a:t>
            </a:r>
            <a:endParaRPr lang="en-US" altLang="ko-KR" dirty="0"/>
          </a:p>
          <a:p>
            <a:r>
              <a:rPr lang="ko-KR" altLang="en-US" dirty="0"/>
              <a:t>박국진</a:t>
            </a:r>
          </a:p>
        </p:txBody>
      </p:sp>
    </p:spTree>
    <p:extLst>
      <p:ext uri="{BB962C8B-B14F-4D97-AF65-F5344CB8AC3E}">
        <p14:creationId xmlns:p14="http://schemas.microsoft.com/office/powerpoint/2010/main" val="297589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81BD1-7780-307C-B446-846EB03F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2023년 </a:t>
            </a:r>
            <a:r>
              <a:rPr lang="ko-KR" altLang="en-US" dirty="0">
                <a:latin typeface="+mj-ea"/>
                <a:ea typeface="+mj-ea"/>
              </a:rPr>
              <a:t>국내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도입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활용 조사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23BAED-7D03-14BD-4283-C98B8C0B7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93" y="2138719"/>
            <a:ext cx="7266215" cy="3100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E87-CB83-A406-B4E1-C132E9BDDC20}"/>
              </a:ext>
            </a:extLst>
          </p:cNvPr>
          <p:cNvSpPr txBox="1"/>
          <p:nvPr/>
        </p:nvSpPr>
        <p:spPr>
          <a:xfrm>
            <a:off x="5372100" y="5734735"/>
            <a:ext cx="6172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</a:pPr>
            <a:r>
              <a:rPr lang="en-US" altLang="ko-KR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*2023 </a:t>
            </a:r>
            <a:r>
              <a:rPr lang="ko-KR" altLang="en-US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국내 </a:t>
            </a:r>
            <a:r>
              <a:rPr lang="en-US" altLang="ko-KR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AI </a:t>
            </a:r>
            <a:r>
              <a:rPr lang="ko-KR" altLang="en-US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도입 및 활용 현황 조사 </a:t>
            </a:r>
            <a:r>
              <a:rPr lang="en-US" altLang="ko-KR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| </a:t>
            </a:r>
            <a:r>
              <a:rPr lang="ko-KR" altLang="en-US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인사이트리포트 </a:t>
            </a:r>
            <a:r>
              <a:rPr lang="en-US" altLang="ko-KR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| </a:t>
            </a:r>
            <a:r>
              <a:rPr lang="ko-KR" altLang="en-US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삼성</a:t>
            </a:r>
            <a:r>
              <a:rPr lang="en-US" altLang="ko-KR" sz="1600" b="1" i="0" u="none" strike="noStrike" dirty="0">
                <a:effectLst/>
                <a:latin typeface="Arial" panose="020B0604020202020204" pitchFamily="34" charset="0"/>
                <a:hlinkClick r:id="rId3"/>
              </a:rPr>
              <a:t>SDS</a:t>
            </a:r>
          </a:p>
        </p:txBody>
      </p:sp>
    </p:spTree>
    <p:extLst>
      <p:ext uri="{BB962C8B-B14F-4D97-AF65-F5344CB8AC3E}">
        <p14:creationId xmlns:p14="http://schemas.microsoft.com/office/powerpoint/2010/main" val="185248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7E59-F81B-F76C-8E11-3CE748FD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24080-893E-AA38-66D8-EF057BCB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2023년 </a:t>
            </a:r>
            <a:r>
              <a:rPr lang="ko-KR" altLang="en-US" dirty="0">
                <a:latin typeface="+mj-ea"/>
                <a:ea typeface="+mj-ea"/>
              </a:rPr>
              <a:t>국내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도입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활용 조사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0DAD0-8382-D92A-6619-B0161898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AI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활용 시 가장 큰 어려움은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"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데이터와 인력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"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A7C7C7-A3DC-DB36-47C5-92149CD64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47" y="1551687"/>
            <a:ext cx="7213906" cy="45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4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rtoon Trash Can Stock Illustrations – 7,821 Cartoon Trash ...">
            <a:extLst>
              <a:ext uri="{FF2B5EF4-FFF2-40B4-BE49-F238E27FC236}">
                <a16:creationId xmlns:a16="http://schemas.microsoft.com/office/drawing/2014/main" id="{AA6F950C-DC45-0BE8-0EAE-535F0365C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942" y="5380236"/>
            <a:ext cx="945610" cy="112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E0116A-146B-45A7-6D63-F5D194D3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마이닝의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EA198-862E-CB2C-BAD2-19DCD19B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SISO(Single Input, Single Output)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MIMO(Multiple Input, Multiple Output)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GIGO(Garbage Input, Garbage Output)</a:t>
            </a:r>
          </a:p>
          <a:p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B057579-54C7-8B04-A8A0-EC0F943B2548}"/>
              </a:ext>
            </a:extLst>
          </p:cNvPr>
          <p:cNvGrpSpPr/>
          <p:nvPr/>
        </p:nvGrpSpPr>
        <p:grpSpPr>
          <a:xfrm>
            <a:off x="6096000" y="1171859"/>
            <a:ext cx="4133850" cy="792794"/>
            <a:chOff x="5219700" y="1232056"/>
            <a:chExt cx="4133850" cy="79279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49547C5-AE20-9F68-D2C6-3F39FD9B7C26}"/>
                </a:ext>
              </a:extLst>
            </p:cNvPr>
            <p:cNvSpPr/>
            <p:nvPr/>
          </p:nvSpPr>
          <p:spPr>
            <a:xfrm>
              <a:off x="6412057" y="1261275"/>
              <a:ext cx="1749136" cy="763575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System</a:t>
              </a:r>
              <a:endParaRPr lang="ko-KR" altLang="en-US" dirty="0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9A373E90-63BE-C7D5-99B2-E831FB737556}"/>
                </a:ext>
              </a:extLst>
            </p:cNvPr>
            <p:cNvCxnSpPr/>
            <p:nvPr/>
          </p:nvCxnSpPr>
          <p:spPr>
            <a:xfrm>
              <a:off x="5219700" y="1643062"/>
              <a:ext cx="119235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CE1B0D9-3F81-AFA8-EE81-EFA549613267}"/>
                </a:ext>
              </a:extLst>
            </p:cNvPr>
            <p:cNvCxnSpPr/>
            <p:nvPr/>
          </p:nvCxnSpPr>
          <p:spPr>
            <a:xfrm>
              <a:off x="8161193" y="1643062"/>
              <a:ext cx="119235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A82F5EE-CD6E-0616-36BE-2FE07B92AAAA}"/>
                    </a:ext>
                  </a:extLst>
                </p:cNvPr>
                <p:cNvSpPr txBox="1"/>
                <p:nvPr/>
              </p:nvSpPr>
              <p:spPr>
                <a:xfrm>
                  <a:off x="5486400" y="1232056"/>
                  <a:ext cx="438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A82F5EE-CD6E-0616-36BE-2FE07B92A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6400" y="1232056"/>
                  <a:ext cx="43815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661D01A-8ADB-C0B0-16DF-937D1AD2B8E1}"/>
                    </a:ext>
                  </a:extLst>
                </p:cNvPr>
                <p:cNvSpPr txBox="1"/>
                <p:nvPr/>
              </p:nvSpPr>
              <p:spPr>
                <a:xfrm>
                  <a:off x="8538296" y="1232056"/>
                  <a:ext cx="438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661D01A-8ADB-C0B0-16DF-937D1AD2B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8296" y="1232056"/>
                  <a:ext cx="43815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3889" b="-98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A9ED36-F993-DA4B-9026-2DE58EE93C09}"/>
              </a:ext>
            </a:extLst>
          </p:cNvPr>
          <p:cNvSpPr/>
          <p:nvPr/>
        </p:nvSpPr>
        <p:spPr>
          <a:xfrm>
            <a:off x="7278832" y="3492441"/>
            <a:ext cx="1749136" cy="7635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System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4F85558-13F7-DEA8-5C18-49A7DBA3065F}"/>
              </a:ext>
            </a:extLst>
          </p:cNvPr>
          <p:cNvCxnSpPr/>
          <p:nvPr/>
        </p:nvCxnSpPr>
        <p:spPr>
          <a:xfrm>
            <a:off x="6086475" y="3648488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BD2FEF-CA14-0A68-00C1-26E50AAEA5CF}"/>
                  </a:ext>
                </a:extLst>
              </p:cNvPr>
              <p:cNvSpPr txBox="1"/>
              <p:nvPr/>
            </p:nvSpPr>
            <p:spPr>
              <a:xfrm>
                <a:off x="6353175" y="3246590"/>
                <a:ext cx="438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BD2FEF-CA14-0A68-00C1-26E50AAEA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75" y="3246590"/>
                <a:ext cx="438150" cy="369332"/>
              </a:xfrm>
              <a:prstGeom prst="rect">
                <a:avLst/>
              </a:prstGeom>
              <a:blipFill>
                <a:blip r:embed="rId5"/>
                <a:stretch>
                  <a:fillRect r="-34722"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96FF8F5-FE27-023F-09E6-02462ABB8F69}"/>
              </a:ext>
            </a:extLst>
          </p:cNvPr>
          <p:cNvCxnSpPr/>
          <p:nvPr/>
        </p:nvCxnSpPr>
        <p:spPr>
          <a:xfrm>
            <a:off x="6086475" y="4172363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23E73F-D952-91D0-3866-49E75892A4DD}"/>
                  </a:ext>
                </a:extLst>
              </p:cNvPr>
              <p:cNvSpPr txBox="1"/>
              <p:nvPr/>
            </p:nvSpPr>
            <p:spPr>
              <a:xfrm>
                <a:off x="6467475" y="3725930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23E73F-D952-91D0-3866-49E75892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475" y="3725930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D8F98F1-2D43-6A28-7E3A-C20E50F5305A}"/>
              </a:ext>
            </a:extLst>
          </p:cNvPr>
          <p:cNvCxnSpPr/>
          <p:nvPr/>
        </p:nvCxnSpPr>
        <p:spPr>
          <a:xfrm>
            <a:off x="9027968" y="3648488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7037DC-A209-DFCC-1821-7D4BA0F4D4D8}"/>
                  </a:ext>
                </a:extLst>
              </p:cNvPr>
              <p:cNvSpPr txBox="1"/>
              <p:nvPr/>
            </p:nvSpPr>
            <p:spPr>
              <a:xfrm>
                <a:off x="9294668" y="3246590"/>
                <a:ext cx="438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7037DC-A209-DFCC-1821-7D4BA0F4D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668" y="3246590"/>
                <a:ext cx="438150" cy="369332"/>
              </a:xfrm>
              <a:prstGeom prst="rect">
                <a:avLst/>
              </a:prstGeom>
              <a:blipFill>
                <a:blip r:embed="rId7"/>
                <a:stretch>
                  <a:fillRect r="-34722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C95B00D-2FF7-74A2-3C0D-75456BEAEB28}"/>
              </a:ext>
            </a:extLst>
          </p:cNvPr>
          <p:cNvCxnSpPr/>
          <p:nvPr/>
        </p:nvCxnSpPr>
        <p:spPr>
          <a:xfrm>
            <a:off x="9027968" y="4172363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6814E5-C8AC-9A55-6AA0-14B4A02452CB}"/>
                  </a:ext>
                </a:extLst>
              </p:cNvPr>
              <p:cNvSpPr txBox="1"/>
              <p:nvPr/>
            </p:nvSpPr>
            <p:spPr>
              <a:xfrm>
                <a:off x="9408968" y="3725930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6814E5-C8AC-9A55-6AA0-14B4A0245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968" y="3725930"/>
                <a:ext cx="323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0FC902-B7BF-5264-9CBE-947E56065DDF}"/>
                  </a:ext>
                </a:extLst>
              </p:cNvPr>
              <p:cNvSpPr txBox="1"/>
              <p:nvPr/>
            </p:nvSpPr>
            <p:spPr>
              <a:xfrm>
                <a:off x="6353175" y="4203312"/>
                <a:ext cx="438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0FC902-B7BF-5264-9CBE-947E56065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75" y="4203312"/>
                <a:ext cx="438150" cy="369332"/>
              </a:xfrm>
              <a:prstGeom prst="rect">
                <a:avLst/>
              </a:prstGeom>
              <a:blipFill>
                <a:blip r:embed="rId9"/>
                <a:stretch>
                  <a:fillRect r="-43056"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047491-BC21-6CED-1F0A-779D384FED8E}"/>
                  </a:ext>
                </a:extLst>
              </p:cNvPr>
              <p:cNvSpPr txBox="1"/>
              <p:nvPr/>
            </p:nvSpPr>
            <p:spPr>
              <a:xfrm>
                <a:off x="9294668" y="4203312"/>
                <a:ext cx="438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047491-BC21-6CED-1F0A-779D384FE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668" y="4203312"/>
                <a:ext cx="438150" cy="369332"/>
              </a:xfrm>
              <a:prstGeom prst="rect">
                <a:avLst/>
              </a:prstGeom>
              <a:blipFill>
                <a:blip r:embed="rId10"/>
                <a:stretch>
                  <a:fillRect r="-43056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D26BF4A7-411D-CFFE-BE9D-029A41D46BBE}"/>
              </a:ext>
            </a:extLst>
          </p:cNvPr>
          <p:cNvSpPr/>
          <p:nvPr/>
        </p:nvSpPr>
        <p:spPr>
          <a:xfrm>
            <a:off x="7278832" y="5001794"/>
            <a:ext cx="1749136" cy="7635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System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8306D80-C349-8261-3280-76ABA6FE3824}"/>
              </a:ext>
            </a:extLst>
          </p:cNvPr>
          <p:cNvCxnSpPr/>
          <p:nvPr/>
        </p:nvCxnSpPr>
        <p:spPr>
          <a:xfrm>
            <a:off x="6086475" y="5395966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AACB1D4-146B-2BC9-7348-B1539BC2C901}"/>
              </a:ext>
            </a:extLst>
          </p:cNvPr>
          <p:cNvCxnSpPr/>
          <p:nvPr/>
        </p:nvCxnSpPr>
        <p:spPr>
          <a:xfrm>
            <a:off x="9027968" y="5395966"/>
            <a:ext cx="11923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B9A3C7F-E7CC-893B-7493-808C93AB9650}"/>
              </a:ext>
            </a:extLst>
          </p:cNvPr>
          <p:cNvSpPr txBox="1"/>
          <p:nvPr/>
        </p:nvSpPr>
        <p:spPr>
          <a:xfrm>
            <a:off x="1287608" y="2163890"/>
            <a:ext cx="1141268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Control System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AEFE5A-B118-8DAC-B7A5-097699E1E581}"/>
              </a:ext>
            </a:extLst>
          </p:cNvPr>
          <p:cNvSpPr txBox="1"/>
          <p:nvPr/>
        </p:nvSpPr>
        <p:spPr>
          <a:xfrm>
            <a:off x="2773508" y="2163890"/>
            <a:ext cx="1360342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Simulation</a:t>
            </a:r>
            <a:r>
              <a:rPr lang="ko-KR" altLang="en-US" dirty="0"/>
              <a:t> </a:t>
            </a:r>
            <a:r>
              <a:rPr lang="en-US" altLang="ko-KR" dirty="0"/>
              <a:t>(Analysis)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783C6C-C3F3-D315-3159-993024BF9351}"/>
              </a:ext>
            </a:extLst>
          </p:cNvPr>
          <p:cNvSpPr txBox="1"/>
          <p:nvPr/>
        </p:nvSpPr>
        <p:spPr>
          <a:xfrm>
            <a:off x="4478482" y="2163890"/>
            <a:ext cx="1360342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Neural Network</a:t>
            </a:r>
            <a:endParaRPr lang="ko-KR" altLang="en-US" dirty="0"/>
          </a:p>
        </p:txBody>
      </p:sp>
      <p:pic>
        <p:nvPicPr>
          <p:cNvPr id="36" name="Picture 2" descr="Cartoon Trash Can Stock Illustrations – 7,821 Cartoon Trash ...">
            <a:extLst>
              <a:ext uri="{FF2B5EF4-FFF2-40B4-BE49-F238E27FC236}">
                <a16:creationId xmlns:a16="http://schemas.microsoft.com/office/drawing/2014/main" id="{C887D57D-47B0-6B2F-2167-E4F1AC7E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938" y="5391502"/>
            <a:ext cx="945610" cy="112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9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8" grpId="0"/>
      <p:bldP spid="20" grpId="0"/>
      <p:bldP spid="22" grpId="0"/>
      <p:bldP spid="23" grpId="0"/>
      <p:bldP spid="24" grpId="0"/>
      <p:bldP spid="25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CAB1-4C5F-711E-BB0E-E0B07BB7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EF45A-F294-7516-884A-56BD64DC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4A01875-7D9E-8A77-D870-AEEBAF08750E}"/>
              </a:ext>
            </a:extLst>
          </p:cNvPr>
          <p:cNvSpPr/>
          <p:nvPr/>
        </p:nvSpPr>
        <p:spPr>
          <a:xfrm>
            <a:off x="535975" y="1258855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품질 문제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F90947D-3605-8BED-3125-7F4ED632DBB9}"/>
              </a:ext>
            </a:extLst>
          </p:cNvPr>
          <p:cNvSpPr/>
          <p:nvPr/>
        </p:nvSpPr>
        <p:spPr>
          <a:xfrm>
            <a:off x="1462661" y="1776044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노이즈</a:t>
            </a:r>
            <a:r>
              <a:rPr lang="en-US" altLang="ko-KR" dirty="0"/>
              <a:t>, </a:t>
            </a:r>
            <a:r>
              <a:rPr lang="ko-KR" altLang="en-US" dirty="0" err="1"/>
              <a:t>결측치</a:t>
            </a:r>
            <a:r>
              <a:rPr lang="en-US" altLang="ko-KR" dirty="0"/>
              <a:t>, </a:t>
            </a:r>
            <a:r>
              <a:rPr lang="ko-KR" altLang="en-US" dirty="0"/>
              <a:t>중복된 데이터로 인한 분석 신뢰성 저하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D3F7162-F679-B856-9DD0-D98C4614DB29}"/>
              </a:ext>
            </a:extLst>
          </p:cNvPr>
          <p:cNvSpPr/>
          <p:nvPr/>
        </p:nvSpPr>
        <p:spPr>
          <a:xfrm>
            <a:off x="1462661" y="2327821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데이터의 일관성 및 정합성 부족으로 인한 </a:t>
            </a:r>
            <a:r>
              <a:rPr lang="ko-KR" altLang="en-US" dirty="0" err="1"/>
              <a:t>전처리</a:t>
            </a:r>
            <a:r>
              <a:rPr lang="ko-KR" altLang="en-US" dirty="0"/>
              <a:t> 복잡성 증가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725DCC5-3FA3-0CA7-A2A7-24134E51AAC9}"/>
              </a:ext>
            </a:extLst>
          </p:cNvPr>
          <p:cNvSpPr/>
          <p:nvPr/>
        </p:nvSpPr>
        <p:spPr>
          <a:xfrm>
            <a:off x="535975" y="3443218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고차원 데이터 처리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F4CF412-EF3C-76AD-E430-43776BCDECB9}"/>
              </a:ext>
            </a:extLst>
          </p:cNvPr>
          <p:cNvSpPr/>
          <p:nvPr/>
        </p:nvSpPr>
        <p:spPr>
          <a:xfrm>
            <a:off x="1462661" y="3989655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연산 비용 증가 및 해석 어려움</a:t>
            </a:r>
            <a:r>
              <a:rPr lang="en-US" altLang="ko-KR" dirty="0"/>
              <a:t>, </a:t>
            </a:r>
            <a:r>
              <a:rPr lang="ko-KR" altLang="en-US" dirty="0"/>
              <a:t>효율적인 차원 축소 필요</a:t>
            </a:r>
            <a:endParaRPr lang="en-US" altLang="ko-KR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21D25BB-3344-1B72-1466-C77D0F5754B4}"/>
              </a:ext>
            </a:extLst>
          </p:cNvPr>
          <p:cNvSpPr/>
          <p:nvPr/>
        </p:nvSpPr>
        <p:spPr>
          <a:xfrm>
            <a:off x="535975" y="4536092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투명성 문제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FC52D9E-1C3C-DD63-046C-2D54D99541DE}"/>
              </a:ext>
            </a:extLst>
          </p:cNvPr>
          <p:cNvSpPr/>
          <p:nvPr/>
        </p:nvSpPr>
        <p:spPr>
          <a:xfrm>
            <a:off x="1462661" y="5118152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복잡한 모델일수록 결과 해석이 난해함</a:t>
            </a:r>
            <a:endParaRPr lang="en-US" altLang="ko-KR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22F8615-D848-DF2F-D5E1-9FAD81EF54A0}"/>
              </a:ext>
            </a:extLst>
          </p:cNvPr>
          <p:cNvSpPr/>
          <p:nvPr/>
        </p:nvSpPr>
        <p:spPr>
          <a:xfrm>
            <a:off x="1462661" y="5664589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투명성과 신뢰성을 확보하기 위한 기술 필요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DA0238D-EC98-50F1-C5F5-DAA97360BAD2}"/>
              </a:ext>
            </a:extLst>
          </p:cNvPr>
          <p:cNvSpPr/>
          <p:nvPr/>
        </p:nvSpPr>
        <p:spPr>
          <a:xfrm>
            <a:off x="1462661" y="2818789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데이터 정보량의 부족</a:t>
            </a:r>
          </a:p>
        </p:txBody>
      </p:sp>
    </p:spTree>
    <p:extLst>
      <p:ext uri="{BB962C8B-B14F-4D97-AF65-F5344CB8AC3E}">
        <p14:creationId xmlns:p14="http://schemas.microsoft.com/office/powerpoint/2010/main" val="242112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AEE7C-68B7-69CE-AAB0-0F60E31D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품질</a:t>
            </a:r>
            <a:r>
              <a:rPr lang="en-US" altLang="ko-KR" dirty="0"/>
              <a:t> </a:t>
            </a:r>
            <a:r>
              <a:rPr lang="en-US" altLang="ko-KR" dirty="0" err="1"/>
              <a:t>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0FB80-6DC5-B06F-BA37-FC8B8712F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Warehouse VS Data Lake</a:t>
            </a:r>
            <a:endParaRPr lang="ko-KR" altLang="en-US" dirty="0"/>
          </a:p>
        </p:txBody>
      </p:sp>
      <p:pic>
        <p:nvPicPr>
          <p:cNvPr id="5122" name="Picture 2" descr="DE] 빅데이터 저장소(Data Storage)">
            <a:extLst>
              <a:ext uri="{FF2B5EF4-FFF2-40B4-BE49-F238E27FC236}">
                <a16:creationId xmlns:a16="http://schemas.microsoft.com/office/drawing/2014/main" id="{502F63EA-DC3A-044E-9890-A457D75DE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0" b="14594"/>
          <a:stretch/>
        </p:blipFill>
        <p:spPr bwMode="auto">
          <a:xfrm>
            <a:off x="1411807" y="1521063"/>
            <a:ext cx="9299048" cy="512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75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F434-565B-559E-CCE6-A871E1D3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71A2B-F41E-4FCF-1EA3-62345D1D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품질</a:t>
            </a:r>
            <a:r>
              <a:rPr lang="en-US" altLang="ko-KR" dirty="0"/>
              <a:t> </a:t>
            </a:r>
            <a:r>
              <a:rPr lang="en-US" altLang="ko-KR" dirty="0" err="1"/>
              <a:t>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27F8BD-3C23-9E74-D4E4-C6CBFD412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종래의 데이터 수집 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478F7CC-B566-B22D-5DED-BA8E7D2587A2}"/>
              </a:ext>
            </a:extLst>
          </p:cNvPr>
          <p:cNvSpPr/>
          <p:nvPr/>
        </p:nvSpPr>
        <p:spPr>
          <a:xfrm>
            <a:off x="149686" y="1499193"/>
            <a:ext cx="2778256" cy="66090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문제 발생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79F6F2D-10DD-547E-6688-DB1685CFE4F8}"/>
              </a:ext>
            </a:extLst>
          </p:cNvPr>
          <p:cNvSpPr/>
          <p:nvPr/>
        </p:nvSpPr>
        <p:spPr>
          <a:xfrm>
            <a:off x="3121486" y="1508719"/>
            <a:ext cx="2778256" cy="65137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스키마</a:t>
            </a:r>
            <a:r>
              <a:rPr lang="en-US" altLang="ko-KR" sz="1400" dirty="0"/>
              <a:t>(Schema) </a:t>
            </a:r>
            <a:r>
              <a:rPr lang="en-US" altLang="ko-KR" sz="1400" dirty="0" err="1"/>
              <a:t>수립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02ADCF-9A6A-FBA8-CC5F-957C712A07E6}"/>
              </a:ext>
            </a:extLst>
          </p:cNvPr>
          <p:cNvSpPr/>
          <p:nvPr/>
        </p:nvSpPr>
        <p:spPr>
          <a:xfrm>
            <a:off x="6093286" y="1508719"/>
            <a:ext cx="2778256" cy="65137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Data Ware (Database) </a:t>
            </a:r>
            <a:r>
              <a:rPr lang="en-US" altLang="ko-KR" sz="1400" dirty="0" err="1"/>
              <a:t>구축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8398B7-B8A8-7605-3B7C-CB37B517E892}"/>
              </a:ext>
            </a:extLst>
          </p:cNvPr>
          <p:cNvSpPr/>
          <p:nvPr/>
        </p:nvSpPr>
        <p:spPr>
          <a:xfrm>
            <a:off x="9065086" y="1499193"/>
            <a:ext cx="2778256" cy="66090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데이터 </a:t>
            </a:r>
            <a:r>
              <a:rPr lang="en-US" altLang="ko-KR" sz="1400" dirty="0" err="1"/>
              <a:t>활용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760A8-8F3F-C59F-D4B5-EC69A9B112A5}"/>
              </a:ext>
            </a:extLst>
          </p:cNvPr>
          <p:cNvSpPr txBox="1"/>
          <p:nvPr/>
        </p:nvSpPr>
        <p:spPr>
          <a:xfrm>
            <a:off x="1496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파손 문제 발생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25FE2-2E6A-618F-8983-E39238858703}"/>
              </a:ext>
            </a:extLst>
          </p:cNvPr>
          <p:cNvSpPr txBox="1"/>
          <p:nvPr/>
        </p:nvSpPr>
        <p:spPr>
          <a:xfrm>
            <a:off x="31214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높이 예측 알고리즘 수립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A38CE-85B6-6217-F87D-E20DDB5CC5E3}"/>
              </a:ext>
            </a:extLst>
          </p:cNvPr>
          <p:cNvSpPr txBox="1"/>
          <p:nvPr/>
        </p:nvSpPr>
        <p:spPr>
          <a:xfrm>
            <a:off x="60932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높이 빅데이터 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B5E4C-0BC4-3069-9E41-BCFEBC62DA1A}"/>
              </a:ext>
            </a:extLst>
          </p:cNvPr>
          <p:cNvSpPr txBox="1"/>
          <p:nvPr/>
        </p:nvSpPr>
        <p:spPr>
          <a:xfrm>
            <a:off x="90650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파손 발생 시 낙하 이력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93C3D-FB48-F113-53CA-211C94664CD0}"/>
              </a:ext>
            </a:extLst>
          </p:cNvPr>
          <p:cNvSpPr txBox="1"/>
          <p:nvPr/>
        </p:nvSpPr>
        <p:spPr>
          <a:xfrm>
            <a:off x="1496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 </a:t>
            </a:r>
            <a:r>
              <a:rPr lang="en-US" altLang="ko-KR" sz="1400" dirty="0" err="1"/>
              <a:t>문제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발생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91B02-A202-6955-EF67-1351CCC55E3D}"/>
              </a:ext>
            </a:extLst>
          </p:cNvPr>
          <p:cNvSpPr txBox="1"/>
          <p:nvPr/>
        </p:nvSpPr>
        <p:spPr>
          <a:xfrm>
            <a:off x="31214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</a:t>
            </a:r>
            <a:r>
              <a:rPr lang="ko-KR" altLang="en-US" sz="1400" dirty="0"/>
              <a:t> </a:t>
            </a:r>
            <a:r>
              <a:rPr lang="en-US" altLang="ko-KR" sz="1400" dirty="0"/>
              <a:t>Max </a:t>
            </a:r>
            <a:r>
              <a:rPr lang="ko-KR" altLang="en-US" sz="1400" dirty="0"/>
              <a:t>기준 수립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CCEE8-470E-FD88-BFBB-E2610BE7FD27}"/>
              </a:ext>
            </a:extLst>
          </p:cNvPr>
          <p:cNvSpPr txBox="1"/>
          <p:nvPr/>
        </p:nvSpPr>
        <p:spPr>
          <a:xfrm>
            <a:off x="60932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 </a:t>
            </a:r>
            <a:r>
              <a:rPr lang="en-US" altLang="ko-KR" sz="1400" dirty="0" err="1"/>
              <a:t>전수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데이터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확보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4B95F-84BE-52B6-5A6F-B662F1F871E0}"/>
              </a:ext>
            </a:extLst>
          </p:cNvPr>
          <p:cNvSpPr txBox="1"/>
          <p:nvPr/>
        </p:nvSpPr>
        <p:spPr>
          <a:xfrm>
            <a:off x="90650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Spec out </a:t>
            </a:r>
            <a:r>
              <a:rPr lang="ko-KR" altLang="en-US" sz="1400" dirty="0"/>
              <a:t>불량 집계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A6BA49-A631-812A-85D5-5F61671FA02F}"/>
              </a:ext>
            </a:extLst>
          </p:cNvPr>
          <p:cNvSpPr txBox="1"/>
          <p:nvPr/>
        </p:nvSpPr>
        <p:spPr>
          <a:xfrm>
            <a:off x="1687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 err="1"/>
              <a:t>폴더블폰</a:t>
            </a:r>
            <a:r>
              <a:rPr lang="ko-KR" altLang="en-US" sz="1400" dirty="0"/>
              <a:t> </a:t>
            </a:r>
            <a:r>
              <a:rPr lang="en-US" altLang="ko-KR" sz="1400" dirty="0"/>
              <a:t>FPCB</a:t>
            </a:r>
            <a:r>
              <a:rPr lang="ko-KR" altLang="en-US" sz="1400" dirty="0"/>
              <a:t> 크랙 발생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ED7A31-4E92-BB39-EB82-411DBC80DBD9}"/>
              </a:ext>
            </a:extLst>
          </p:cNvPr>
          <p:cNvSpPr txBox="1"/>
          <p:nvPr/>
        </p:nvSpPr>
        <p:spPr>
          <a:xfrm>
            <a:off x="31405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Folding</a:t>
            </a:r>
            <a:r>
              <a:rPr lang="ko-KR" altLang="en-US" sz="1400" dirty="0"/>
              <a:t> </a:t>
            </a:r>
            <a:r>
              <a:rPr lang="en-US" altLang="ko-KR" sz="1400" dirty="0"/>
              <a:t>count</a:t>
            </a:r>
            <a:r>
              <a:rPr lang="ko-KR" altLang="en-US" sz="1400" dirty="0"/>
              <a:t> 알고리즘 수립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480B44-1867-E4D5-4FF8-D794863CC359}"/>
              </a:ext>
            </a:extLst>
          </p:cNvPr>
          <p:cNvSpPr txBox="1"/>
          <p:nvPr/>
        </p:nvSpPr>
        <p:spPr>
          <a:xfrm>
            <a:off x="61123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Folding </a:t>
            </a:r>
            <a:r>
              <a:rPr lang="ko-KR" altLang="en-US" sz="1400" dirty="0"/>
              <a:t>이력 데이터 </a:t>
            </a:r>
            <a:r>
              <a:rPr lang="en-US" altLang="ko-KR" sz="1400" dirty="0" err="1"/>
              <a:t>구축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30A75-BAF9-8B08-A213-AFDAEC2A98E6}"/>
              </a:ext>
            </a:extLst>
          </p:cNvPr>
          <p:cNvSpPr txBox="1"/>
          <p:nvPr/>
        </p:nvSpPr>
        <p:spPr>
          <a:xfrm>
            <a:off x="90841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Folding </a:t>
            </a:r>
            <a:r>
              <a:rPr lang="ko-KR" altLang="en-US" sz="1400" dirty="0"/>
              <a:t>횟수에 따른 불량 집계</a:t>
            </a:r>
          </a:p>
        </p:txBody>
      </p:sp>
    </p:spTree>
    <p:extLst>
      <p:ext uri="{BB962C8B-B14F-4D97-AF65-F5344CB8AC3E}">
        <p14:creationId xmlns:p14="http://schemas.microsoft.com/office/powerpoint/2010/main" val="40185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1990-E9B8-36EA-4C51-1166C604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70729-516F-90E3-7C28-BFE2E2D6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품질</a:t>
            </a:r>
            <a:r>
              <a:rPr lang="en-US" altLang="ko-KR" dirty="0"/>
              <a:t> </a:t>
            </a:r>
            <a:r>
              <a:rPr lang="en-US" altLang="ko-KR" dirty="0" err="1"/>
              <a:t>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2868C-6213-3DDC-609F-A43FC09E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레이크의 활용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52DA779-1D76-7B51-873E-0C5F6B3B4EBB}"/>
              </a:ext>
            </a:extLst>
          </p:cNvPr>
          <p:cNvSpPr/>
          <p:nvPr/>
        </p:nvSpPr>
        <p:spPr>
          <a:xfrm>
            <a:off x="149686" y="1499193"/>
            <a:ext cx="2778256" cy="662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Data Lake </a:t>
            </a:r>
            <a:r>
              <a:rPr lang="en-US" altLang="ko-KR" sz="1400" dirty="0" err="1"/>
              <a:t>구축</a:t>
            </a:r>
            <a:endParaRPr lang="ko-KR" altLang="en-US" sz="14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4534C9-47BC-16AC-3DE0-8E328F03900E}"/>
              </a:ext>
            </a:extLst>
          </p:cNvPr>
          <p:cNvSpPr/>
          <p:nvPr/>
        </p:nvSpPr>
        <p:spPr>
          <a:xfrm>
            <a:off x="3121486" y="1508718"/>
            <a:ext cx="2778256" cy="662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문제 발생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1971FC-D550-73E6-DFC4-B58230CDF1B5}"/>
              </a:ext>
            </a:extLst>
          </p:cNvPr>
          <p:cNvSpPr/>
          <p:nvPr/>
        </p:nvSpPr>
        <p:spPr>
          <a:xfrm>
            <a:off x="6093286" y="1508718"/>
            <a:ext cx="2778256" cy="662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데이터 분석 및 탐색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74DD7C-94A4-4BF2-3E72-93C9E5C2CE2B}"/>
              </a:ext>
            </a:extLst>
          </p:cNvPr>
          <p:cNvSpPr/>
          <p:nvPr/>
        </p:nvSpPr>
        <p:spPr>
          <a:xfrm>
            <a:off x="9065086" y="1499192"/>
            <a:ext cx="2778256" cy="662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데이터 활용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F3EF7-08AE-3349-5D7D-08BC0677221A}"/>
              </a:ext>
            </a:extLst>
          </p:cNvPr>
          <p:cNvSpPr txBox="1"/>
          <p:nvPr/>
        </p:nvSpPr>
        <p:spPr>
          <a:xfrm>
            <a:off x="1496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이력 센서 데이터 집계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0EB9A-655F-3256-6CAB-A6F793278AF9}"/>
              </a:ext>
            </a:extLst>
          </p:cNvPr>
          <p:cNvSpPr txBox="1"/>
          <p:nvPr/>
        </p:nvSpPr>
        <p:spPr>
          <a:xfrm>
            <a:off x="31214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크랙 문제 발생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B195A-8C6F-968D-9922-840B978C0949}"/>
              </a:ext>
            </a:extLst>
          </p:cNvPr>
          <p:cNvSpPr txBox="1"/>
          <p:nvPr/>
        </p:nvSpPr>
        <p:spPr>
          <a:xfrm>
            <a:off x="60932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이력 </a:t>
            </a:r>
            <a:r>
              <a:rPr lang="ko-KR" altLang="en-US" sz="1400" dirty="0" err="1"/>
              <a:t>디지털트윈</a:t>
            </a:r>
            <a:r>
              <a:rPr lang="ko-KR" altLang="en-US" sz="1400" dirty="0"/>
              <a:t> 분석 진행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EE457-076B-FACA-30A2-83617969CD7D}"/>
              </a:ext>
            </a:extLst>
          </p:cNvPr>
          <p:cNvSpPr txBox="1"/>
          <p:nvPr/>
        </p:nvSpPr>
        <p:spPr>
          <a:xfrm>
            <a:off x="9065086" y="25774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낙하 원인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89676-A3EB-8A83-8CFE-CFFCBA2A6F1B}"/>
              </a:ext>
            </a:extLst>
          </p:cNvPr>
          <p:cNvSpPr txBox="1"/>
          <p:nvPr/>
        </p:nvSpPr>
        <p:spPr>
          <a:xfrm>
            <a:off x="1496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 </a:t>
            </a:r>
            <a:r>
              <a:rPr lang="en-US" altLang="ko-KR" sz="1400" dirty="0" err="1"/>
              <a:t>분포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전수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데이터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확보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F88446-AC0C-A1DD-BD59-4FAE46A75519}"/>
              </a:ext>
            </a:extLst>
          </p:cNvPr>
          <p:cNvSpPr txBox="1"/>
          <p:nvPr/>
        </p:nvSpPr>
        <p:spPr>
          <a:xfrm>
            <a:off x="31214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 </a:t>
            </a:r>
            <a:r>
              <a:rPr lang="en-US" altLang="ko-KR" sz="1400" dirty="0" err="1"/>
              <a:t>불량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발생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17A56-87A9-EF4D-21C3-7A92D4A4AC8F}"/>
              </a:ext>
            </a:extLst>
          </p:cNvPr>
          <p:cNvSpPr txBox="1"/>
          <p:nvPr/>
        </p:nvSpPr>
        <p:spPr>
          <a:xfrm>
            <a:off x="60932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Warpage </a:t>
            </a:r>
            <a:r>
              <a:rPr lang="en-US" altLang="ko-KR" sz="1400" dirty="0" err="1"/>
              <a:t>전수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데이터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분석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9BDC6-1619-4551-B725-7A0DBBA27C78}"/>
              </a:ext>
            </a:extLst>
          </p:cNvPr>
          <p:cNvSpPr txBox="1"/>
          <p:nvPr/>
        </p:nvSpPr>
        <p:spPr>
          <a:xfrm>
            <a:off x="9065086" y="3463310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불량 모드 확인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55F4E2-6C85-2663-0850-12897D65CCFC}"/>
              </a:ext>
            </a:extLst>
          </p:cNvPr>
          <p:cNvSpPr txBox="1"/>
          <p:nvPr/>
        </p:nvSpPr>
        <p:spPr>
          <a:xfrm>
            <a:off x="168736" y="4328276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 err="1"/>
              <a:t>폴딩</a:t>
            </a:r>
            <a:r>
              <a:rPr lang="en-US" altLang="ko-KR" sz="1400" dirty="0"/>
              <a:t> </a:t>
            </a:r>
            <a:r>
              <a:rPr lang="ko-KR" altLang="en-US" sz="1400" dirty="0"/>
              <a:t>시간 및 횟수 </a:t>
            </a:r>
            <a:r>
              <a:rPr lang="en-US" altLang="ko-KR" sz="1400" dirty="0"/>
              <a:t>/ </a:t>
            </a:r>
            <a:r>
              <a:rPr lang="en-US" altLang="ko-KR" sz="1400" dirty="0" err="1"/>
              <a:t>온도</a:t>
            </a:r>
            <a:r>
              <a:rPr lang="en-US" altLang="ko-KR" sz="1400" dirty="0"/>
              <a:t> </a:t>
            </a:r>
            <a:r>
              <a:rPr lang="ko-KR" altLang="en-US" sz="1400" dirty="0"/>
              <a:t>등 센서 데이터 기록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409EBF-0BBB-24FE-F2A9-F26B9F372DCC}"/>
              </a:ext>
            </a:extLst>
          </p:cNvPr>
          <p:cNvSpPr txBox="1"/>
          <p:nvPr/>
        </p:nvSpPr>
        <p:spPr>
          <a:xfrm>
            <a:off x="31405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 err="1"/>
              <a:t>폴더블폰</a:t>
            </a:r>
            <a:r>
              <a:rPr lang="ko-KR" altLang="en-US" sz="1400" dirty="0"/>
              <a:t> </a:t>
            </a:r>
            <a:r>
              <a:rPr lang="en-US" altLang="ko-KR" sz="1400" dirty="0"/>
              <a:t>FPCB</a:t>
            </a:r>
            <a:r>
              <a:rPr lang="ko-KR" altLang="en-US" sz="1400" dirty="0"/>
              <a:t>크랙 발생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21F0F-86AB-9198-276F-A48B9FA16A3A}"/>
              </a:ext>
            </a:extLst>
          </p:cNvPr>
          <p:cNvSpPr txBox="1"/>
          <p:nvPr/>
        </p:nvSpPr>
        <p:spPr>
          <a:xfrm>
            <a:off x="61123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Folding </a:t>
            </a:r>
            <a:r>
              <a:rPr lang="en-US" altLang="ko-KR" sz="1400" dirty="0" err="1"/>
              <a:t>경향성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분석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D53868-DB7F-A9C1-9969-2EACC41D811A}"/>
              </a:ext>
            </a:extLst>
          </p:cNvPr>
          <p:cNvSpPr txBox="1"/>
          <p:nvPr/>
        </p:nvSpPr>
        <p:spPr>
          <a:xfrm>
            <a:off x="9084136" y="4444385"/>
            <a:ext cx="2778256" cy="540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Folding </a:t>
            </a:r>
            <a:r>
              <a:rPr lang="ko-KR" altLang="en-US" sz="1400" dirty="0"/>
              <a:t>환경 조건 분석</a:t>
            </a:r>
          </a:p>
        </p:txBody>
      </p:sp>
    </p:spTree>
    <p:extLst>
      <p:ext uri="{BB962C8B-B14F-4D97-AF65-F5344CB8AC3E}">
        <p14:creationId xmlns:p14="http://schemas.microsoft.com/office/powerpoint/2010/main" val="318432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7BEB-295F-F6AC-13F8-E821613E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F7689-B7D8-0233-7DAB-C36BD23A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en-US" altLang="ko-KR" dirty="0" err="1"/>
              <a:t>고차원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EDF88-B715-7589-50C7-A5B446C9B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차원의 저주</a:t>
            </a:r>
            <a:r>
              <a:rPr lang="en-US" altLang="ko-KR" dirty="0"/>
              <a:t> (The Curse of Dimensionality)</a:t>
            </a:r>
            <a:endParaRPr lang="ko-KR" altLang="en-US" dirty="0"/>
          </a:p>
        </p:txBody>
      </p:sp>
      <p:pic>
        <p:nvPicPr>
          <p:cNvPr id="6146" name="Picture 2" descr="고차원 데이터와 차원의 저주(High-dimensional data and curse of dimensionality)">
            <a:extLst>
              <a:ext uri="{FF2B5EF4-FFF2-40B4-BE49-F238E27FC236}">
                <a16:creationId xmlns:a16="http://schemas.microsoft.com/office/drawing/2014/main" id="{B0A2E369-BBC4-A845-EAF4-D48AF5A18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57" y="1373442"/>
            <a:ext cx="5288487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CBB634-2B58-6C10-30BC-6A9F6BA2EB32}"/>
                  </a:ext>
                </a:extLst>
              </p:cNvPr>
              <p:cNvSpPr txBox="1"/>
              <p:nvPr/>
            </p:nvSpPr>
            <p:spPr>
              <a:xfrm>
                <a:off x="6378043" y="4042672"/>
                <a:ext cx="530595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0" i="0" dirty="0">
                    <a:solidFill>
                      <a:srgbClr val="4D5156"/>
                    </a:solidFill>
                    <a:effectLst/>
                    <a:latin typeface="Arial" panose="020B0604020202020204" pitchFamily="34" charset="0"/>
                  </a:rPr>
                  <a:t>데이터 학습을 위해 차원이 증가</a:t>
                </a:r>
                <a:endParaRPr lang="en-US" altLang="ko-KR" b="0" i="0" dirty="0">
                  <a:solidFill>
                    <a:srgbClr val="4D5156"/>
                  </a:solidFill>
                  <a:effectLst/>
                  <a:latin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4D5156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b="0" i="0" dirty="0">
                    <a:solidFill>
                      <a:srgbClr val="4D5156"/>
                    </a:solidFill>
                    <a:effectLst/>
                    <a:latin typeface="Arial" panose="020B0604020202020204" pitchFamily="34" charset="0"/>
                  </a:rPr>
                  <a:t> 학습데이터 수가 차원 수보다 적어져 성능 저하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CBB634-2B58-6C10-30BC-6A9F6BA2E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043" y="4042672"/>
                <a:ext cx="5305957" cy="646331"/>
              </a:xfrm>
              <a:prstGeom prst="rect">
                <a:avLst/>
              </a:prstGeom>
              <a:blipFill>
                <a:blip r:embed="rId3"/>
                <a:stretch>
                  <a:fillRect l="-918" t="-471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02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C8CE-DFAB-DB88-964E-D46D56D5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FF052-0DD2-2F6E-F49D-F8620E0A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en-US" altLang="ko-KR" dirty="0" err="1"/>
              <a:t>고차원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3E8AA-74DA-C3CC-06C8-075673AB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계산복잡도</a:t>
            </a:r>
            <a:r>
              <a:rPr lang="en-US" altLang="ko-KR" dirty="0"/>
              <a:t>(Computational complexity theory)</a:t>
            </a:r>
          </a:p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BE5D1AF-9E81-D501-7F6D-CFE07A999114}"/>
              </a:ext>
            </a:extLst>
          </p:cNvPr>
          <p:cNvSpPr/>
          <p:nvPr/>
        </p:nvSpPr>
        <p:spPr>
          <a:xfrm>
            <a:off x="492586" y="1844931"/>
            <a:ext cx="1786472" cy="21682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시뮬레이션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10CCDC-6D99-CC5C-9FBB-961D379BCE7C}"/>
              </a:ext>
            </a:extLst>
          </p:cNvPr>
          <p:cNvSpPr/>
          <p:nvPr/>
        </p:nvSpPr>
        <p:spPr>
          <a:xfrm>
            <a:off x="492586" y="4559300"/>
            <a:ext cx="1786472" cy="1727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Machine Learning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707176-FA4E-892D-8B4F-8CD4204DBABA}"/>
                  </a:ext>
                </a:extLst>
              </p:cNvPr>
              <p:cNvSpPr txBox="1"/>
              <p:nvPr/>
            </p:nvSpPr>
            <p:spPr>
              <a:xfrm>
                <a:off x="2497072" y="1844931"/>
                <a:ext cx="3344928" cy="33855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Explicit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707176-FA4E-892D-8B4F-8CD4204DB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072" y="1844931"/>
                <a:ext cx="3344928" cy="338554"/>
              </a:xfrm>
              <a:prstGeom prst="rect">
                <a:avLst/>
              </a:prstGeom>
              <a:blipFill>
                <a:blip r:embed="rId2"/>
                <a:stretch>
                  <a:fillRect l="-909" t="-3509" b="-21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59D40D46-7CB3-A1BE-9AC8-BE3F0F3B44B1}"/>
              </a:ext>
            </a:extLst>
          </p:cNvPr>
          <p:cNvSpPr/>
          <p:nvPr/>
        </p:nvSpPr>
        <p:spPr>
          <a:xfrm>
            <a:off x="5930900" y="1854200"/>
            <a:ext cx="482600" cy="2168269"/>
          </a:xfrm>
          <a:prstGeom prst="leftBrace">
            <a:avLst>
              <a:gd name="adj1" fmla="val 8333"/>
              <a:gd name="adj2" fmla="val 27159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14FDE-E8A5-8182-F4CC-4C294CBBD1ED}"/>
              </a:ext>
            </a:extLst>
          </p:cNvPr>
          <p:cNvSpPr txBox="1"/>
          <p:nvPr/>
        </p:nvSpPr>
        <p:spPr>
          <a:xfrm>
            <a:off x="6464300" y="1828800"/>
            <a:ext cx="5243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Structural Dynamics :</a:t>
            </a:r>
          </a:p>
          <a:p>
            <a:r>
              <a:rPr lang="en-US" altLang="ko-KR" sz="1200" dirty="0"/>
              <a:t>(Critical</a:t>
            </a:r>
            <a:r>
              <a:rPr lang="ko-KR" altLang="en-US" sz="1200" dirty="0"/>
              <a:t> </a:t>
            </a:r>
            <a:r>
              <a:rPr lang="en-US" altLang="ko-KR" sz="1200" dirty="0"/>
              <a:t>Time</a:t>
            </a:r>
            <a:r>
              <a:rPr lang="ko-KR" altLang="en-US" sz="1200" dirty="0"/>
              <a:t> </a:t>
            </a:r>
            <a:r>
              <a:rPr lang="en-US" altLang="ko-KR" sz="1200" dirty="0"/>
              <a:t>Step)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9F647A-A99A-6352-C6F6-FB2CE5434859}"/>
                  </a:ext>
                </a:extLst>
              </p:cNvPr>
              <p:cNvSpPr txBox="1"/>
              <p:nvPr/>
            </p:nvSpPr>
            <p:spPr>
              <a:xfrm>
                <a:off x="8710086" y="1806831"/>
                <a:ext cx="1988142" cy="43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9F647A-A99A-6352-C6F6-FB2CE5434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086" y="1806831"/>
                <a:ext cx="1988142" cy="4381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BEF67C1-477D-A45C-FCA9-2AE5C0F15D5B}"/>
              </a:ext>
            </a:extLst>
          </p:cNvPr>
          <p:cNvSpPr txBox="1"/>
          <p:nvPr/>
        </p:nvSpPr>
        <p:spPr>
          <a:xfrm>
            <a:off x="6439492" y="2462961"/>
            <a:ext cx="340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Fluid Dynamics :</a:t>
            </a:r>
          </a:p>
          <a:p>
            <a:r>
              <a:rPr lang="en-US" altLang="ko-KR" sz="1200" dirty="0"/>
              <a:t>(CFL, Courant-Friedrichs-Lewy number)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74FB74-4E8F-CEB0-001B-9B8E89F38709}"/>
                  </a:ext>
                </a:extLst>
              </p:cNvPr>
              <p:cNvSpPr txBox="1"/>
              <p:nvPr/>
            </p:nvSpPr>
            <p:spPr>
              <a:xfrm>
                <a:off x="8953800" y="2496754"/>
                <a:ext cx="1500714" cy="43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74FB74-4E8F-CEB0-001B-9B8E89F38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800" y="2496754"/>
                <a:ext cx="1500714" cy="438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062AC38-91E4-C8BA-D6F5-F0EC76E4949C}"/>
              </a:ext>
            </a:extLst>
          </p:cNvPr>
          <p:cNvSpPr txBox="1"/>
          <p:nvPr/>
        </p:nvSpPr>
        <p:spPr>
          <a:xfrm>
            <a:off x="6311518" y="3534346"/>
            <a:ext cx="5905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Electromagnetics :</a:t>
            </a:r>
          </a:p>
          <a:p>
            <a:r>
              <a:rPr lang="en-US" altLang="ko-KR" sz="1200" dirty="0"/>
              <a:t>(CFL number for Maxwell </a:t>
            </a:r>
            <a:r>
              <a:rPr lang="en-US" altLang="ko-KR" sz="1200" dirty="0" err="1"/>
              <a:t>Eqn</a:t>
            </a:r>
            <a:r>
              <a:rPr lang="en-US" altLang="ko-KR" sz="1200" dirty="0"/>
              <a:t>)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F85DE1-0B36-BBEF-EEE1-6B96B3768FD2}"/>
                  </a:ext>
                </a:extLst>
              </p:cNvPr>
              <p:cNvSpPr txBox="1"/>
              <p:nvPr/>
            </p:nvSpPr>
            <p:spPr>
              <a:xfrm>
                <a:off x="10155465" y="1899461"/>
                <a:ext cx="19195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elastic wave speed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F85DE1-0B36-BBEF-EEE1-6B96B3768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465" y="1899461"/>
                <a:ext cx="1919514" cy="276999"/>
              </a:xfrm>
              <a:prstGeom prst="rect">
                <a:avLst/>
              </a:prstGeom>
              <a:blipFill>
                <a:blip r:embed="rId5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089B655-CE87-7255-40CA-02DA64EC65E2}"/>
              </a:ext>
            </a:extLst>
          </p:cNvPr>
          <p:cNvSpPr/>
          <p:nvPr/>
        </p:nvSpPr>
        <p:spPr>
          <a:xfrm>
            <a:off x="2497072" y="1321769"/>
            <a:ext cx="3433828" cy="39805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계산복잡도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862D61-8C8E-AECF-875C-5022D0FD7E5A}"/>
                  </a:ext>
                </a:extLst>
              </p:cNvPr>
              <p:cNvSpPr txBox="1"/>
              <p:nvPr/>
            </p:nvSpPr>
            <p:spPr>
              <a:xfrm>
                <a:off x="2497072" y="3558403"/>
                <a:ext cx="3344928" cy="33855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Implicit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862D61-8C8E-AECF-875C-5022D0FD7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072" y="3558403"/>
                <a:ext cx="3344928" cy="338554"/>
              </a:xfrm>
              <a:prstGeom prst="rect">
                <a:avLst/>
              </a:prstGeom>
              <a:blipFill>
                <a:blip r:embed="rId6"/>
                <a:stretch>
                  <a:fillRect l="-909" t="-3509" b="-21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C47DD8-8191-910F-F8C6-60A658710F8F}"/>
                  </a:ext>
                </a:extLst>
              </p:cNvPr>
              <p:cNvSpPr txBox="1"/>
              <p:nvPr/>
            </p:nvSpPr>
            <p:spPr>
              <a:xfrm>
                <a:off x="10155465" y="2574411"/>
                <a:ext cx="19195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fluid speed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C47DD8-8191-910F-F8C6-60A658710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465" y="2574411"/>
                <a:ext cx="1919514" cy="276999"/>
              </a:xfrm>
              <a:prstGeom prst="rect">
                <a:avLst/>
              </a:prstGeom>
              <a:blipFill>
                <a:blip r:embed="rId7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554BDF5-3B21-A29C-ABDF-18C89860CA03}"/>
              </a:ext>
            </a:extLst>
          </p:cNvPr>
          <p:cNvSpPr txBox="1"/>
          <p:nvPr/>
        </p:nvSpPr>
        <p:spPr>
          <a:xfrm>
            <a:off x="6464300" y="3060248"/>
            <a:ext cx="5243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Acoustics :</a:t>
            </a:r>
          </a:p>
          <a:p>
            <a:r>
              <a:rPr lang="en-US" altLang="ko-KR" sz="1200" dirty="0"/>
              <a:t>(CFL)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23F2DD-0D38-D6AE-2667-1B946765E912}"/>
                  </a:ext>
                </a:extLst>
              </p:cNvPr>
              <p:cNvSpPr txBox="1"/>
              <p:nvPr/>
            </p:nvSpPr>
            <p:spPr>
              <a:xfrm>
                <a:off x="8953800" y="3033134"/>
                <a:ext cx="1500714" cy="43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23F2DD-0D38-D6AE-2667-1B946765E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800" y="3033134"/>
                <a:ext cx="1500714" cy="438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1449C2-B220-CF28-C252-188BC13B6740}"/>
                  </a:ext>
                </a:extLst>
              </p:cNvPr>
              <p:cNvSpPr txBox="1"/>
              <p:nvPr/>
            </p:nvSpPr>
            <p:spPr>
              <a:xfrm>
                <a:off x="10155465" y="3110791"/>
                <a:ext cx="19195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speed of sound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1449C2-B220-CF28-C252-188BC13B6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465" y="3110791"/>
                <a:ext cx="1919514" cy="276999"/>
              </a:xfrm>
              <a:prstGeom prst="rect">
                <a:avLst/>
              </a:prstGeom>
              <a:blipFill>
                <a:blip r:embed="rId9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924F0-77D8-4F85-1F08-360A34FA6138}"/>
                  </a:ext>
                </a:extLst>
              </p:cNvPr>
              <p:cNvSpPr txBox="1"/>
              <p:nvPr/>
            </p:nvSpPr>
            <p:spPr>
              <a:xfrm>
                <a:off x="8953800" y="3544114"/>
                <a:ext cx="1500714" cy="43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924F0-77D8-4F85-1F08-360A34FA6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800" y="3544114"/>
                <a:ext cx="1500714" cy="4381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082C06-4E5D-B2C3-900F-4C4E30AB9595}"/>
                  </a:ext>
                </a:extLst>
              </p:cNvPr>
              <p:cNvSpPr txBox="1"/>
              <p:nvPr/>
            </p:nvSpPr>
            <p:spPr>
              <a:xfrm>
                <a:off x="10155465" y="3634471"/>
                <a:ext cx="19195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speed of light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082C06-4E5D-B2C3-900F-4C4E30AB9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465" y="3634471"/>
                <a:ext cx="1919514" cy="276999"/>
              </a:xfrm>
              <a:prstGeom prst="rect">
                <a:avLst/>
              </a:prstGeom>
              <a:blipFill>
                <a:blip r:embed="rId11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89E370-A722-29E3-C2BF-2C6C64CBB90D}"/>
                  </a:ext>
                </a:extLst>
              </p:cNvPr>
              <p:cNvSpPr txBox="1"/>
              <p:nvPr/>
            </p:nvSpPr>
            <p:spPr>
              <a:xfrm>
                <a:off x="2497071" y="4537335"/>
                <a:ext cx="9301227" cy="33855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Fully connected layer :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 : </a:t>
                </a:r>
                <a:r>
                  <a:rPr lang="ko-KR" altLang="en-US" sz="1600" dirty="0"/>
                  <a:t>배치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수</a:t>
                </a:r>
                <a:r>
                  <a:rPr lang="en-US" altLang="ko-KR" sz="1600" dirty="0"/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en-US" altLang="ko-KR" sz="1600" dirty="0" err="1"/>
                  <a:t>입력</a:t>
                </a:r>
                <a:r>
                  <a:rPr lang="en-US" altLang="ko-KR" sz="1600" dirty="0"/>
                  <a:t> </a:t>
                </a:r>
                <a:r>
                  <a:rPr lang="en-US" altLang="ko-KR" sz="1600" dirty="0" err="1"/>
                  <a:t>뉴런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개수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출력</a:t>
                </a:r>
                <a:r>
                  <a:rPr lang="en-US" altLang="ko-KR" sz="1600" dirty="0"/>
                  <a:t> </a:t>
                </a:r>
                <a:r>
                  <a:rPr lang="en-US" altLang="ko-KR" sz="1600" dirty="0" err="1"/>
                  <a:t>뉴런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개수</a:t>
                </a:r>
                <a:r>
                  <a:rPr lang="en-US" altLang="ko-KR" sz="1600" dirty="0"/>
                  <a:t> 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89E370-A722-29E3-C2BF-2C6C64CBB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071" y="4537335"/>
                <a:ext cx="9301227" cy="338554"/>
              </a:xfrm>
              <a:prstGeom prst="rect">
                <a:avLst/>
              </a:prstGeom>
              <a:blipFill>
                <a:blip r:embed="rId12"/>
                <a:stretch>
                  <a:fillRect l="-327" t="-3448" b="-189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6FB09A59-124B-488C-C17C-FB971B17B6C1}"/>
                  </a:ext>
                </a:extLst>
              </p:cNvPr>
              <p:cNvSpPr/>
              <p:nvPr/>
            </p:nvSpPr>
            <p:spPr>
              <a:xfrm>
                <a:off x="6180686" y="1333500"/>
                <a:ext cx="5617613" cy="39805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dirty="0"/>
                  <a:t>수렴을 위한 최소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6FB09A59-124B-488C-C17C-FB971B17B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86" y="1333500"/>
                <a:ext cx="5617613" cy="398051"/>
              </a:xfrm>
              <a:prstGeom prst="roundRect">
                <a:avLst/>
              </a:prstGeom>
              <a:blipFill>
                <a:blip r:embed="rId13"/>
                <a:stretch>
                  <a:fillRect t="-7353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3D003-6DFE-80B5-A2D5-9B63DD78A763}"/>
                  </a:ext>
                </a:extLst>
              </p:cNvPr>
              <p:cNvSpPr txBox="1"/>
              <p:nvPr/>
            </p:nvSpPr>
            <p:spPr>
              <a:xfrm>
                <a:off x="2497071" y="5908535"/>
                <a:ext cx="9301227" cy="33855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전방전달</a:t>
                </a:r>
                <a:r>
                  <a:rPr lang="en-US" altLang="ko-KR" sz="1600" dirty="0"/>
                  <a:t>(Forward Pass)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ko-KR" altLang="en-US" sz="1600" dirty="0"/>
                  <a:t>  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en-US" altLang="ko-KR" sz="1600" dirty="0" err="1"/>
                  <a:t>파라미터의</a:t>
                </a:r>
                <a:r>
                  <a:rPr lang="en-US" altLang="ko-KR" sz="1600" dirty="0"/>
                  <a:t> 수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3D003-6DFE-80B5-A2D5-9B63DD78A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071" y="5908535"/>
                <a:ext cx="9301227" cy="338554"/>
              </a:xfrm>
              <a:prstGeom prst="rect">
                <a:avLst/>
              </a:prstGeom>
              <a:blipFill>
                <a:blip r:embed="rId14"/>
                <a:stretch>
                  <a:fillRect l="-327" t="-3448" b="-189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0FFBBEA1-152D-007D-1D20-AF54E177DAC7}"/>
              </a:ext>
            </a:extLst>
          </p:cNvPr>
          <p:cNvSpPr/>
          <p:nvPr/>
        </p:nvSpPr>
        <p:spPr>
          <a:xfrm>
            <a:off x="2497071" y="4972472"/>
            <a:ext cx="411229" cy="35267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EA1D00-60F4-BBC4-24D3-92BFDAE106A2}"/>
              </a:ext>
            </a:extLst>
          </p:cNvPr>
          <p:cNvSpPr txBox="1"/>
          <p:nvPr/>
        </p:nvSpPr>
        <p:spPr>
          <a:xfrm>
            <a:off x="3086100" y="5000629"/>
            <a:ext cx="654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학습데이터가 많을 수록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Implicit와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유사한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어려움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존재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50B356AB-DEFF-03AC-5444-5E4148A08005}"/>
              </a:ext>
            </a:extLst>
          </p:cNvPr>
          <p:cNvSpPr/>
          <p:nvPr/>
        </p:nvSpPr>
        <p:spPr>
          <a:xfrm>
            <a:off x="2497071" y="5404272"/>
            <a:ext cx="411229" cy="35267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CF298C-F492-3500-98D2-5ED200F465B3}"/>
              </a:ext>
            </a:extLst>
          </p:cNvPr>
          <p:cNvSpPr txBox="1"/>
          <p:nvPr/>
        </p:nvSpPr>
        <p:spPr>
          <a:xfrm>
            <a:off x="3086100" y="5419729"/>
            <a:ext cx="7200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계산 복잡도를 줄여주는 솔루션</a:t>
            </a:r>
            <a:r>
              <a:rPr lang="en-US" altLang="ko-KR" sz="1600" dirty="0"/>
              <a:t>(Ex : Convolution Neural Network) </a:t>
            </a:r>
            <a:r>
              <a:rPr lang="ko-KR" altLang="en-US" sz="1600" dirty="0"/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358737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3EC7-ACD6-CEC2-5136-2A02811B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C9F60-CE89-6B29-B1C7-795685B7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빅데이터 분석의 난점 </a:t>
            </a:r>
            <a:r>
              <a:rPr lang="en-US" altLang="ko-KR" dirty="0"/>
              <a:t>– </a:t>
            </a:r>
            <a:r>
              <a:rPr lang="ko-KR" altLang="en-US" dirty="0"/>
              <a:t>모델 투명성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0E2D1-0A1B-3BAB-3AB0-D435BAF43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복잡한 시스템 분석</a:t>
            </a:r>
            <a:r>
              <a:rPr lang="en-US" altLang="ko-KR" dirty="0"/>
              <a:t>, </a:t>
            </a:r>
            <a:r>
              <a:rPr lang="ko-KR" altLang="en-US" dirty="0"/>
              <a:t>투명성</a:t>
            </a:r>
            <a:r>
              <a:rPr lang="en-US" altLang="ko-KR" dirty="0"/>
              <a:t> </a:t>
            </a:r>
            <a:r>
              <a:rPr lang="ko-KR" altLang="en-US" dirty="0"/>
              <a:t>및 신뢰성 </a:t>
            </a:r>
            <a:r>
              <a:rPr lang="en-US" altLang="ko-KR" dirty="0" err="1"/>
              <a:t>확보의</a:t>
            </a:r>
            <a:r>
              <a:rPr lang="en-US" altLang="ko-KR" dirty="0"/>
              <a:t> </a:t>
            </a:r>
            <a:r>
              <a:rPr lang="en-US" altLang="ko-KR" dirty="0" err="1"/>
              <a:t>어려움</a:t>
            </a:r>
            <a:endParaRPr lang="en-US" altLang="ko-KR" dirty="0"/>
          </a:p>
          <a:p>
            <a:r>
              <a:rPr lang="en-US" altLang="ko-KR" dirty="0"/>
              <a:t>DOE</a:t>
            </a:r>
            <a:r>
              <a:rPr lang="ko-KR" altLang="en-US" dirty="0"/>
              <a:t> 기반의 최적화 방법들과 </a:t>
            </a:r>
            <a:r>
              <a:rPr lang="en-US" altLang="ko-KR" dirty="0"/>
              <a:t>AI/</a:t>
            </a:r>
            <a:r>
              <a:rPr lang="en-US" altLang="ko-KR" dirty="0" err="1"/>
              <a:t>ML의</a:t>
            </a:r>
            <a:r>
              <a:rPr lang="en-US" altLang="ko-KR" dirty="0"/>
              <a:t> </a:t>
            </a:r>
            <a:r>
              <a:rPr lang="en-US" altLang="ko-KR" dirty="0" err="1"/>
              <a:t>잠재적</a:t>
            </a:r>
            <a:r>
              <a:rPr lang="en-US" altLang="ko-KR" dirty="0"/>
              <a:t> </a:t>
            </a:r>
            <a:r>
              <a:rPr lang="en-US" altLang="ko-KR" dirty="0" err="1"/>
              <a:t>리스크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3B69DC9-5FDD-BE1B-1F15-F087AD85A167}"/>
              </a:ext>
            </a:extLst>
          </p:cNvPr>
          <p:cNvSpPr/>
          <p:nvPr/>
        </p:nvSpPr>
        <p:spPr>
          <a:xfrm>
            <a:off x="797386" y="2442540"/>
            <a:ext cx="2778256" cy="939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모델 복잡성</a:t>
            </a:r>
            <a:r>
              <a:rPr lang="en-US" altLang="ko-KR" sz="2000" dirty="0"/>
              <a:t>/</a:t>
            </a:r>
          </a:p>
          <a:p>
            <a:pPr algn="ctr"/>
            <a:r>
              <a:rPr lang="ko-KR" altLang="en-US" sz="2000" dirty="0"/>
              <a:t>비선형 상호작용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1E68B0-04C3-7404-EB09-52F940AAC9E5}"/>
              </a:ext>
            </a:extLst>
          </p:cNvPr>
          <p:cNvSpPr/>
          <p:nvPr/>
        </p:nvSpPr>
        <p:spPr>
          <a:xfrm>
            <a:off x="797386" y="4610392"/>
            <a:ext cx="2778256" cy="9392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변수의 의존성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A3C71-312A-84F6-6C2C-5659FA794856}"/>
              </a:ext>
            </a:extLst>
          </p:cNvPr>
          <p:cNvSpPr txBox="1"/>
          <p:nvPr/>
        </p:nvSpPr>
        <p:spPr>
          <a:xfrm>
            <a:off x="4025900" y="245524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변수의 </a:t>
            </a:r>
            <a:r>
              <a:rPr lang="ko-KR" altLang="en-US" dirty="0" err="1"/>
              <a:t>비선형적인</a:t>
            </a:r>
            <a:r>
              <a:rPr lang="ko-KR" altLang="en-US" dirty="0"/>
              <a:t> 민감도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EE98F-7392-BB91-B89F-1C40F7770BAC}"/>
              </a:ext>
            </a:extLst>
          </p:cNvPr>
          <p:cNvSpPr txBox="1"/>
          <p:nvPr/>
        </p:nvSpPr>
        <p:spPr>
          <a:xfrm>
            <a:off x="4025900" y="2992291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모델의 복잡성을 확인할 수 없는 경우</a:t>
            </a:r>
            <a:r>
              <a:rPr lang="en-US" altLang="ko-KR" dirty="0"/>
              <a:t>(AI/ML) </a:t>
            </a:r>
            <a:r>
              <a:rPr lang="en-US" altLang="ko-KR" dirty="0" err="1"/>
              <a:t>분석의</a:t>
            </a:r>
            <a:r>
              <a:rPr lang="en-US" altLang="ko-KR" dirty="0"/>
              <a:t> </a:t>
            </a:r>
            <a:r>
              <a:rPr lang="en-US" altLang="ko-KR" dirty="0" err="1"/>
              <a:t>정합성</a:t>
            </a:r>
            <a:r>
              <a:rPr lang="en-US" altLang="ko-KR" dirty="0"/>
              <a:t> </a:t>
            </a:r>
            <a:r>
              <a:rPr lang="en-US" altLang="ko-KR" dirty="0" err="1"/>
              <a:t>감소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FC1B8-101E-D73B-4C81-52EACD0BE134}"/>
              </a:ext>
            </a:extLst>
          </p:cNvPr>
          <p:cNvSpPr txBox="1"/>
          <p:nvPr/>
        </p:nvSpPr>
        <p:spPr>
          <a:xfrm>
            <a:off x="4025900" y="4639395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상호의존 변수들의 관계 불명하여 모델의 투명도 감소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39852531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22421</TotalTime>
  <Words>577</Words>
  <Application>Microsoft Office PowerPoint</Application>
  <PresentationFormat>와이드스크린</PresentationFormat>
  <Paragraphs>123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Cambria Math</vt:lpstr>
      <vt:lpstr>Neue Haas Grotesk Text Pro</vt:lpstr>
      <vt:lpstr>Noto Sans</vt:lpstr>
      <vt:lpstr>Wingdings</vt:lpstr>
      <vt:lpstr>BjornVTI</vt:lpstr>
      <vt:lpstr>AI와 빅데이터 시대 :  고품질 데이터와 디지털 트윈을 통한 시뮬레이션 혁신</vt:lpstr>
      <vt:lpstr>2023년 국내 AI 도입 및 활용 조사</vt:lpstr>
      <vt:lpstr>2023년 국내 AI 도입 및 활용 조사</vt:lpstr>
      <vt:lpstr>데이터 마이닝의 중요성</vt:lpstr>
      <vt:lpstr>빅데이터 분석의 난점</vt:lpstr>
      <vt:lpstr>빅데이터 분석의 난점 – 데이터 품질 문제</vt:lpstr>
      <vt:lpstr>빅데이터 분석의 난점 – 데이터 품질 문제</vt:lpstr>
      <vt:lpstr>빅데이터 분석의 난점 – 데이터 품질 문제</vt:lpstr>
      <vt:lpstr>빅데이터 분석의 난점 – 고차원 데이터 처리</vt:lpstr>
      <vt:lpstr>빅데이터 분석의 난점 – 고차원 데이터 처리</vt:lpstr>
      <vt:lpstr>빅데이터 분석의 난점 – 모델 투명성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구조 시뮬레이션 정합성 고도화 Vision</dc:title>
  <dc:creator>국진 박</dc:creator>
  <cp:lastModifiedBy>국진 박</cp:lastModifiedBy>
  <cp:revision>34</cp:revision>
  <dcterms:created xsi:type="dcterms:W3CDTF">2024-05-11T22:31:10Z</dcterms:created>
  <dcterms:modified xsi:type="dcterms:W3CDTF">2026-05-08T14:29:17Z</dcterms:modified>
</cp:coreProperties>
</file>